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Noto Sans Myanmar"/>
      <p:regular r:id="rId24"/>
      <p:bold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Urbanist Medium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D38FC7-7B36-44CC-84E8-E727122F5E91}">
  <a:tblStyle styleId="{6DD38FC7-7B36-44CC-84E8-E727122F5E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41" Type="http://schemas.openxmlformats.org/officeDocument/2006/relationships/font" Target="fonts/Poppi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Medium-bold.fntdata"/><Relationship Id="rId30" Type="http://schemas.openxmlformats.org/officeDocument/2006/relationships/font" Target="fonts/UrbanistMedium-regular.fntdata"/><Relationship Id="rId33" Type="http://schemas.openxmlformats.org/officeDocument/2006/relationships/font" Target="fonts/UrbanistMedium-boldItalic.fntdata"/><Relationship Id="rId32" Type="http://schemas.openxmlformats.org/officeDocument/2006/relationships/font" Target="fonts/UrbanistMedium-italic.fntdata"/><Relationship Id="rId35" Type="http://schemas.openxmlformats.org/officeDocument/2006/relationships/font" Target="fonts/Urbanist-bold.fntdata"/><Relationship Id="rId34" Type="http://schemas.openxmlformats.org/officeDocument/2006/relationships/font" Target="fonts/Urbanist-regular.fntdata"/><Relationship Id="rId37" Type="http://schemas.openxmlformats.org/officeDocument/2006/relationships/font" Target="fonts/Urbanist-boldItalic.fntdata"/><Relationship Id="rId36" Type="http://schemas.openxmlformats.org/officeDocument/2006/relationships/font" Target="fonts/Urbanist-italic.fntdata"/><Relationship Id="rId39" Type="http://schemas.openxmlformats.org/officeDocument/2006/relationships/font" Target="fonts/PoppinsSemiBold-bold.fntdata"/><Relationship Id="rId38" Type="http://schemas.openxmlformats.org/officeDocument/2006/relationships/font" Target="fonts/PoppinsSemiBold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NotoSansMyanmar-regular.fntdata"/><Relationship Id="rId23" Type="http://schemas.openxmlformats.org/officeDocument/2006/relationships/slide" Target="slides/slide16.xml"/><Relationship Id="rId26" Type="http://schemas.openxmlformats.org/officeDocument/2006/relationships/font" Target="fonts/Poppins-regular.fntdata"/><Relationship Id="rId25" Type="http://schemas.openxmlformats.org/officeDocument/2006/relationships/font" Target="fonts/NotoSansMyanmar-bold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29" Type="http://schemas.openxmlformats.org/officeDocument/2006/relationships/font" Target="fonts/Poppi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e6e34a2bc9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e6e34a2bc9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e6e34a2bc9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e6e34a2bc9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6e34a2bc9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6e34a2bc9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6e34a2bc9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e6e34a2bc9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6e34a2bc9_0_3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e6e34a2bc9_0_3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6e34a2bc9_0_3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e6e34a2bc9_0_3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6e34a2bc9_0_3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6e34a2bc9_0_3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e6e34a2bc9_0_3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e6e34a2bc9_0_3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e6e34a2bc9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e6e34a2bc9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6e34a2bc9_0_3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e6e34a2bc9_0_3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e6e9366ec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e6e9366ec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e6e34a2bc9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e6e34a2bc9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6e9366ec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e6e9366ec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e6e9366ec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e6e9366ec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e6e34a2bc9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e6e34a2bc9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6e34a2bc9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e6e34a2bc9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Myanmar Handwriting Recognition E</a:t>
            </a:r>
            <a:r>
              <a:rPr lang="en" sz="4400"/>
              <a:t>xperiment</a:t>
            </a:r>
            <a:r>
              <a:rPr lang="en" sz="4400"/>
              <a:t> Models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7"/>
          <p:cNvSpPr txBox="1"/>
          <p:nvPr>
            <p:ph idx="1" type="subTitle"/>
          </p:nvPr>
        </p:nvSpPr>
        <p:spPr>
          <a:xfrm>
            <a:off x="4634477" y="1485525"/>
            <a:ext cx="42195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Poppins SemiBold"/>
                <a:ea typeface="Poppins SemiBold"/>
                <a:cs typeface="Poppins SemiBold"/>
                <a:sym typeface="Poppins SemiBold"/>
              </a:rPr>
              <a:t>Features Embedding</a:t>
            </a:r>
            <a:endParaRPr/>
          </a:p>
        </p:txBody>
      </p:sp>
      <p:sp>
        <p:nvSpPr>
          <p:cNvPr id="624" name="Google Shape;624;p67"/>
          <p:cNvSpPr txBox="1"/>
          <p:nvPr>
            <p:ph idx="3" type="subTitle"/>
          </p:nvPr>
        </p:nvSpPr>
        <p:spPr>
          <a:xfrm>
            <a:off x="4634477" y="2248989"/>
            <a:ext cx="42195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Prototypes + Segmental HMM</a:t>
            </a:r>
            <a:endParaRPr/>
          </a:p>
        </p:txBody>
      </p:sp>
      <p:sp>
        <p:nvSpPr>
          <p:cNvPr id="625" name="Google Shape;625;p67"/>
          <p:cNvSpPr txBox="1"/>
          <p:nvPr>
            <p:ph idx="5" type="subTitle"/>
          </p:nvPr>
        </p:nvSpPr>
        <p:spPr>
          <a:xfrm>
            <a:off x="4634477" y="3017803"/>
            <a:ext cx="42195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CTC + BiLSTM</a:t>
            </a:r>
            <a:endParaRPr/>
          </a:p>
        </p:txBody>
      </p:sp>
      <p:sp>
        <p:nvSpPr>
          <p:cNvPr id="626" name="Google Shape;626;p67"/>
          <p:cNvSpPr txBox="1"/>
          <p:nvPr>
            <p:ph idx="7" type="subTitle"/>
          </p:nvPr>
        </p:nvSpPr>
        <p:spPr>
          <a:xfrm>
            <a:off x="4634477" y="3781267"/>
            <a:ext cx="42195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CTC + WFST</a:t>
            </a:r>
            <a:endParaRPr/>
          </a:p>
        </p:txBody>
      </p:sp>
      <p:sp>
        <p:nvSpPr>
          <p:cNvPr id="627" name="Google Shape;627;p67"/>
          <p:cNvSpPr txBox="1"/>
          <p:nvPr/>
        </p:nvSpPr>
        <p:spPr>
          <a:xfrm>
            <a:off x="3568875" y="2249376"/>
            <a:ext cx="638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8" name="Google Shape;628;p67"/>
          <p:cNvSpPr txBox="1"/>
          <p:nvPr/>
        </p:nvSpPr>
        <p:spPr>
          <a:xfrm>
            <a:off x="3568875" y="1491465"/>
            <a:ext cx="638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9" name="Google Shape;629;p67"/>
          <p:cNvSpPr txBox="1"/>
          <p:nvPr/>
        </p:nvSpPr>
        <p:spPr>
          <a:xfrm>
            <a:off x="3568875" y="3029827"/>
            <a:ext cx="638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0" name="Google Shape;630;p67"/>
          <p:cNvSpPr txBox="1"/>
          <p:nvPr/>
        </p:nvSpPr>
        <p:spPr>
          <a:xfrm>
            <a:off x="3568875" y="3772650"/>
            <a:ext cx="638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04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1" name="Google Shape;631;p67"/>
          <p:cNvSpPr txBox="1"/>
          <p:nvPr>
            <p:ph type="title"/>
          </p:nvPr>
        </p:nvSpPr>
        <p:spPr>
          <a:xfrm>
            <a:off x="1582800" y="1485525"/>
            <a:ext cx="2114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32" name="Google Shape;632;p67"/>
          <p:cNvSpPr txBox="1"/>
          <p:nvPr>
            <p:ph idx="5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Aung Hein</a:t>
            </a:r>
            <a:endParaRPr/>
          </a:p>
        </p:txBody>
      </p:sp>
      <p:sp>
        <p:nvSpPr>
          <p:cNvPr id="633" name="Google Shape;633;p67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May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idx="1" type="subTitle"/>
          </p:nvPr>
        </p:nvSpPr>
        <p:spPr>
          <a:xfrm>
            <a:off x="284700" y="2574275"/>
            <a:ext cx="5574000" cy="186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part of an AI Foundation course assignment, I experimented with machine learning models for Myanmar handwriting recognition. The dataset includes over </a:t>
            </a:r>
            <a:r>
              <a:rPr b="1" lang="en">
                <a:latin typeface="Urbanist"/>
                <a:ea typeface="Urbanist"/>
                <a:cs typeface="Urbanist"/>
                <a:sym typeface="Urbanist"/>
              </a:rPr>
              <a:t>4,000 </a:t>
            </a:r>
            <a:r>
              <a:rPr lang="en"/>
              <a:t>syllables, with at least three handwritten samples collected for each syllable. In total, three different models were tested, achieving a maximum accuracy of approximately </a:t>
            </a:r>
            <a:r>
              <a:rPr b="1" lang="en">
                <a:latin typeface="Urbanist"/>
                <a:ea typeface="Urbanist"/>
                <a:cs typeface="Urbanist"/>
                <a:sym typeface="Urbanist"/>
              </a:rPr>
              <a:t>94%</a:t>
            </a:r>
            <a:r>
              <a:rPr lang="en"/>
              <a:t> in a low-cost, CPU-only environment.</a:t>
            </a:r>
            <a:endParaRPr/>
          </a:p>
        </p:txBody>
      </p:sp>
      <p:sp>
        <p:nvSpPr>
          <p:cNvPr id="639" name="Google Shape;639;p6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9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Embedding</a:t>
            </a:r>
            <a:endParaRPr/>
          </a:p>
        </p:txBody>
      </p:sp>
      <p:sp>
        <p:nvSpPr>
          <p:cNvPr id="645" name="Google Shape;645;p69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6" name="Google Shape;646;p69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7" name="Google Shape;647;p69"/>
          <p:cNvSpPr txBox="1"/>
          <p:nvPr/>
        </p:nvSpPr>
        <p:spPr>
          <a:xfrm>
            <a:off x="283475" y="920550"/>
            <a:ext cx="83832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this assignment, each handwriting sample is represented using extracted stroke-level features before being used by the recognition models. The feature vector is organized into 1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 feature groups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where each group captures a different aspect of handwriting structure, movement, and spatial layout.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geom – stroke shape &amp; size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pause – pen-up timing gaps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turn – direction changes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progression – writing flow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zone_pct_cov – zone coverage %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zone_active – active zones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line_rel – position vs baseline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dot – small/dot strokes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direction_hist – stroke directions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curvature_hist – stroke bending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projection_hist – spatial density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AutoNum type="arabicPeriod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local_grid – fine local structure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48" name="Google Shape;6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300" y="1572600"/>
            <a:ext cx="2637400" cy="26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4675" y="1572600"/>
            <a:ext cx="2637400" cy="26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0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Embedding</a:t>
            </a:r>
            <a:endParaRPr/>
          </a:p>
        </p:txBody>
      </p:sp>
      <p:sp>
        <p:nvSpPr>
          <p:cNvPr id="655" name="Google Shape;655;p70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70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7" name="Google Shape;657;p70"/>
          <p:cNvSpPr txBox="1"/>
          <p:nvPr/>
        </p:nvSpPr>
        <p:spPr>
          <a:xfrm>
            <a:off x="262250" y="867513"/>
            <a:ext cx="3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Mean Embedding Comparison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8" name="Google Shape;65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00" y="1336970"/>
            <a:ext cx="3423500" cy="1685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875" y="3240989"/>
            <a:ext cx="3423547" cy="1685639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70"/>
          <p:cNvSpPr txBox="1"/>
          <p:nvPr/>
        </p:nvSpPr>
        <p:spPr>
          <a:xfrm>
            <a:off x="4986200" y="867513"/>
            <a:ext cx="3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Sample neighbours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61" name="Google Shape;66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9543" y="1239450"/>
            <a:ext cx="3063433" cy="10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550" y="2429550"/>
            <a:ext cx="2914600" cy="1058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9560" y="3619649"/>
            <a:ext cx="3408850" cy="12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Model - 1:</a:t>
            </a:r>
            <a:endParaRPr sz="2600"/>
          </a:p>
        </p:txBody>
      </p:sp>
      <p:sp>
        <p:nvSpPr>
          <p:cNvPr id="669" name="Google Shape;669;p71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Syllable Prototype + Unit Prototype Segmental HMM (Hybrid Scoring)</a:t>
            </a:r>
            <a:endParaRPr sz="2600"/>
          </a:p>
        </p:txBody>
      </p:sp>
      <p:sp>
        <p:nvSpPr>
          <p:cNvPr id="670" name="Google Shape;670;p71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1" name="Google Shape;671;p71"/>
          <p:cNvSpPr txBox="1"/>
          <p:nvPr/>
        </p:nvSpPr>
        <p:spPr>
          <a:xfrm>
            <a:off x="284700" y="3461497"/>
            <a:ext cx="547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Model‑1 combines global syllable prototype matching with local unit-level segmental HMM scoring, then predicts the final syllable using a hybrid score.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2" name="Google Shape;672;p71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3" name="Google Shape;673;p71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2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ppins"/>
                <a:ea typeface="Poppins"/>
                <a:cs typeface="Poppins"/>
                <a:sym typeface="Poppins"/>
              </a:rPr>
              <a:t>Syllable Prototype + Unit Prototype Segmental HMM</a:t>
            </a:r>
            <a:endParaRPr/>
          </a:p>
        </p:txBody>
      </p:sp>
      <p:sp>
        <p:nvSpPr>
          <p:cNvPr id="679" name="Google Shape;679;p72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0" name="Google Shape;680;p72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72"/>
          <p:cNvSpPr txBox="1"/>
          <p:nvPr/>
        </p:nvSpPr>
        <p:spPr>
          <a:xfrm>
            <a:off x="283475" y="920550"/>
            <a:ext cx="838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2" name="Google Shape;682;p72"/>
          <p:cNvSpPr txBox="1"/>
          <p:nvPr/>
        </p:nvSpPr>
        <p:spPr>
          <a:xfrm>
            <a:off x="4469075" y="1210725"/>
            <a:ext cx="2196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Syllable Prototype Accuracy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Top-N Candidates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Top-1 	: 0.787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Top-5	: 0.922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Top-10	: 0.947	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72"/>
          <p:cNvSpPr txBox="1"/>
          <p:nvPr/>
        </p:nvSpPr>
        <p:spPr>
          <a:xfrm>
            <a:off x="6717150" y="1210725"/>
            <a:ext cx="2196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Final Hybrid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Accuracy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Top-N Candidates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Top-1 	: 0.798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Top-5	: 0.936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Top-10	: 0.955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4" name="Google Shape;684;p72"/>
          <p:cNvSpPr txBox="1"/>
          <p:nvPr/>
        </p:nvSpPr>
        <p:spPr>
          <a:xfrm>
            <a:off x="4469075" y="2573513"/>
            <a:ext cx="28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Sample Units Segmentation by HMM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85" name="Google Shape;68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9075" y="2993425"/>
            <a:ext cx="1023825" cy="11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300" y="2993425"/>
            <a:ext cx="969374" cy="112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1075" y="2993425"/>
            <a:ext cx="969374" cy="11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9850" y="2993425"/>
            <a:ext cx="846998" cy="112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925" y="1104600"/>
            <a:ext cx="2897612" cy="35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3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ppins"/>
                <a:ea typeface="Poppins"/>
                <a:cs typeface="Poppins"/>
                <a:sym typeface="Poppins"/>
              </a:rPr>
              <a:t>Syllable Prototype + Unit Prototype Segmental HMM</a:t>
            </a:r>
            <a:endParaRPr/>
          </a:p>
        </p:txBody>
      </p:sp>
      <p:sp>
        <p:nvSpPr>
          <p:cNvPr id="695" name="Google Shape;695;p73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6" name="Google Shape;696;p73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7" name="Google Shape;697;p73"/>
          <p:cNvSpPr txBox="1"/>
          <p:nvPr/>
        </p:nvSpPr>
        <p:spPr>
          <a:xfrm>
            <a:off x="283475" y="920550"/>
            <a:ext cx="838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98" name="Google Shape;69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26" y="1233576"/>
            <a:ext cx="5147446" cy="16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3"/>
          <p:cNvSpPr txBox="1"/>
          <p:nvPr/>
        </p:nvSpPr>
        <p:spPr>
          <a:xfrm>
            <a:off x="313600" y="3014595"/>
            <a:ext cx="46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0" name="Google Shape;700;p73"/>
          <p:cNvSpPr txBox="1"/>
          <p:nvPr/>
        </p:nvSpPr>
        <p:spPr>
          <a:xfrm>
            <a:off x="313600" y="802435"/>
            <a:ext cx="46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Candidate Score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Histogram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01" name="Google Shape;70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325" y="3421506"/>
            <a:ext cx="6463174" cy="15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4"/>
          <p:cNvSpPr txBox="1"/>
          <p:nvPr>
            <p:ph idx="1" type="body"/>
          </p:nvPr>
        </p:nvSpPr>
        <p:spPr>
          <a:xfrm>
            <a:off x="286425" y="302829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Model‑2 first trains a BiLSTM encoder with CTC to learn unit-aware features from stroke embeddings. Then it reuses that encoder (usually frozen) and adds another BiLSTM classification head to predict syllables directly from encoder features.</a:t>
            </a:r>
            <a:endParaRPr/>
          </a:p>
        </p:txBody>
      </p:sp>
      <p:sp>
        <p:nvSpPr>
          <p:cNvPr id="707" name="Google Shape;707;p7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Model - 2</a:t>
            </a:r>
            <a:r>
              <a:rPr lang="en" sz="2600"/>
              <a:t>:</a:t>
            </a:r>
            <a:endParaRPr sz="2600"/>
          </a:p>
        </p:txBody>
      </p:sp>
      <p:sp>
        <p:nvSpPr>
          <p:cNvPr id="708" name="Google Shape;708;p74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CTC </a:t>
            </a:r>
            <a:r>
              <a:rPr lang="en" sz="2600"/>
              <a:t>Pre-trained</a:t>
            </a:r>
            <a:r>
              <a:rPr lang="en" sz="2600"/>
              <a:t> Encoder + BiLSTM Syllable Classifier</a:t>
            </a:r>
            <a:endParaRPr sz="2600"/>
          </a:p>
        </p:txBody>
      </p:sp>
      <p:sp>
        <p:nvSpPr>
          <p:cNvPr id="709" name="Google Shape;709;p74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0" name="Google Shape;710;p74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74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5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CTC Pre-trained Encoder + BiLSTM Syllable Classifier</a:t>
            </a:r>
            <a:endParaRPr/>
          </a:p>
        </p:txBody>
      </p:sp>
      <p:sp>
        <p:nvSpPr>
          <p:cNvPr id="717" name="Google Shape;717;p75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8" name="Google Shape;718;p75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9" name="Google Shape;719;p75"/>
          <p:cNvSpPr txBox="1"/>
          <p:nvPr/>
        </p:nvSpPr>
        <p:spPr>
          <a:xfrm>
            <a:off x="283475" y="920550"/>
            <a:ext cx="838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0" name="Google Shape;720;p75"/>
          <p:cNvSpPr txBox="1"/>
          <p:nvPr/>
        </p:nvSpPr>
        <p:spPr>
          <a:xfrm>
            <a:off x="4551338" y="994426"/>
            <a:ext cx="192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Unit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Accuracy ( by CTC )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Validation : 0.941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Test	     : 0.9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38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1" name="Google Shape;721;p75"/>
          <p:cNvSpPr txBox="1"/>
          <p:nvPr/>
        </p:nvSpPr>
        <p:spPr>
          <a:xfrm>
            <a:off x="6709011" y="994433"/>
            <a:ext cx="2196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CTC + BiLSTM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Accuracy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Validation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	: 0.892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5	: 0.962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10	: 0.977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Test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	: 0.9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5	: 0.9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70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10	: 0.9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87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22" name="Google Shape;72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4550"/>
            <a:ext cx="4164275" cy="3452607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75"/>
          <p:cNvSpPr txBox="1"/>
          <p:nvPr/>
        </p:nvSpPr>
        <p:spPr>
          <a:xfrm>
            <a:off x="4551352" y="3078400"/>
            <a:ext cx="298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Prediction Statistics ( test dataset )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24" name="Google Shape;724;p75"/>
          <p:cNvGraphicFramePr/>
          <p:nvPr/>
        </p:nvGraphicFramePr>
        <p:xfrm>
          <a:off x="4756200" y="354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2077550"/>
                <a:gridCol w="857700"/>
                <a:gridCol w="10207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</a:t>
                      </a:r>
                      <a:r>
                        <a:rPr lang="en" sz="1000">
                          <a:solidFill>
                            <a:schemeClr val="lt1"/>
                          </a:solidFill>
                        </a:rPr>
                        <a:t>ase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</a:t>
                      </a:r>
                      <a:r>
                        <a:rPr lang="en" sz="1000">
                          <a:solidFill>
                            <a:schemeClr val="lt1"/>
                          </a:solidFill>
                        </a:rPr>
                        <a:t>ount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R</a:t>
                      </a:r>
                      <a:r>
                        <a:rPr lang="en" sz="1000">
                          <a:solidFill>
                            <a:schemeClr val="lt1"/>
                          </a:solidFill>
                        </a:rPr>
                        <a:t>atio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unit_correct_syllable_correct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844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0.871001032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unit_correct_syllable_wrong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0.0701754386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unit_wrong_syllable_wrong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0.03715170279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unit_wrong_syllable_correct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0.02167182663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6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CTC Pre-trained Encoder + BiLSTM Syllable Classifier</a:t>
            </a:r>
            <a:endParaRPr/>
          </a:p>
        </p:txBody>
      </p:sp>
      <p:sp>
        <p:nvSpPr>
          <p:cNvPr id="730" name="Google Shape;730;p76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1" name="Google Shape;731;p76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2" name="Google Shape;732;p76"/>
          <p:cNvSpPr txBox="1"/>
          <p:nvPr/>
        </p:nvSpPr>
        <p:spPr>
          <a:xfrm>
            <a:off x="289896" y="758033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unit_correct_syllable_wrong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33" name="Google Shape;733;p76"/>
          <p:cNvGraphicFramePr/>
          <p:nvPr/>
        </p:nvGraphicFramePr>
        <p:xfrm>
          <a:off x="897025" y="1165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766325"/>
                <a:gridCol w="674300"/>
                <a:gridCol w="691025"/>
                <a:gridCol w="1318500"/>
                <a:gridCol w="1100425"/>
                <a:gridCol w="2799350"/>
              </a:tblGrid>
              <a:tr h="15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sample_index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true_syllable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pred_top1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gt_units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pred_units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case</a:t>
                      </a:r>
                      <a:endParaRPr sz="800">
                        <a:solidFill>
                          <a:schemeClr val="lt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45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['တ', 'ွ', 'ေ']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['တ', 'ွ', 'ေ']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unit_correct_syllable_wrong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194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ဗျား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ဖျား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['ဗ', 'ျ', 'ာ',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['ဗ', 'ျ', 'ာ',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unit_correct_syllable_wrong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228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နာ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နှာ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['န', 'ာ']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['န', 'ာ']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unit_correct_syllable_wrong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707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ရုံ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ရုင်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['ရ', 'ု', 'ံ']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['ရ', 'ု', 'ံ']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unit_correct_syllable_wrong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867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နော်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နော့်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['ေန', 'ာ', '်']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['ေန', 'ာ', '်']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unit_correct_syllable_wrong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4" name="Google Shape;734;p76"/>
          <p:cNvSpPr txBox="1"/>
          <p:nvPr/>
        </p:nvSpPr>
        <p:spPr>
          <a:xfrm>
            <a:off x="289891" y="2142862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unit_correct_syllable_wrong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35" name="Google Shape;735;p76"/>
          <p:cNvGraphicFramePr/>
          <p:nvPr/>
        </p:nvGraphicFramePr>
        <p:xfrm>
          <a:off x="893825" y="2496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766325"/>
                <a:gridCol w="674300"/>
                <a:gridCol w="691025"/>
                <a:gridCol w="1318500"/>
                <a:gridCol w="1100425"/>
                <a:gridCol w="2799425"/>
              </a:tblGrid>
              <a:tr h="1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sample_index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true_syllable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gt_units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case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29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122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နိုင်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နိုင်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['န', 'ိ', 'ု', 'င်']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['န', 'ိ', 'င်']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unit_wrong_syllable_correct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276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စု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စု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['စ', 'ု']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['ရ']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unit_wrong_syllable_correct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442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နှင့်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နှင့်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['န', 'ှ', 'င်', '့']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['ဒ', 'င်', '့']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unit_wrong_syllable_correct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1803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ခွေး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ခွေး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['ခ', 'ွ', 'ေ',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['ဒ', 'ွ', 'ေ',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unit_wrong_syllable_correct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3494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တင့်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တင့်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['တ', 'င်', '့']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['တ', 'င', '့', '်']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unit_wrong_syllable_correct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6" name="Google Shape;736;p76"/>
          <p:cNvSpPr txBox="1"/>
          <p:nvPr/>
        </p:nvSpPr>
        <p:spPr>
          <a:xfrm>
            <a:off x="283466" y="3446431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unit_wrong_syllable_wrong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37" name="Google Shape;737;p76"/>
          <p:cNvGraphicFramePr/>
          <p:nvPr/>
        </p:nvGraphicFramePr>
        <p:xfrm>
          <a:off x="893825" y="378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766325"/>
                <a:gridCol w="674300"/>
                <a:gridCol w="691025"/>
                <a:gridCol w="1318500"/>
                <a:gridCol w="1100425"/>
                <a:gridCol w="2799425"/>
              </a:tblGrid>
              <a:tr h="21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sample_index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true_syllable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gt_units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case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62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64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ဖြစ်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ဖြဲ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['ဖ', 'ြ', 'စ်']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['ပ', 'ြ', 'စ်']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131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လေး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ကေး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['ေလ',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['ေယ',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193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ဗျား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ပျား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['ဗ', 'ျ', 'ာ',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['ပ', 'ျ', 'ာ', 'း']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266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လောက်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ယောက်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['ေလ', 'ာ', 'က်']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['ေယ', 'ာ', 'က်']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361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ဝင်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ဝဂ်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['ဝ', 'င်']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['ဝ', 'ဂ်']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unit_wrong_syllable_wrong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7"/>
          <p:cNvSpPr txBox="1"/>
          <p:nvPr>
            <p:ph idx="4" type="body"/>
          </p:nvPr>
        </p:nvSpPr>
        <p:spPr>
          <a:xfrm>
            <a:off x="286425" y="2808899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Model‑3 first predicts unit sequences from stroke embeddings using a CTC-based BiLSTM encoder, then decodes the N-best unit paths with a WFST lexicon to produce the final syllable prediction.</a:t>
            </a:r>
            <a:endParaRPr/>
          </a:p>
        </p:txBody>
      </p:sp>
      <p:sp>
        <p:nvSpPr>
          <p:cNvPr id="743" name="Google Shape;743;p7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Model - 3:</a:t>
            </a:r>
            <a:endParaRPr sz="2600"/>
          </a:p>
        </p:txBody>
      </p:sp>
      <p:sp>
        <p:nvSpPr>
          <p:cNvPr id="744" name="Google Shape;744;p7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CTC Unit Model + WFST Lexicon Decoder</a:t>
            </a:r>
            <a:endParaRPr sz="2600"/>
          </a:p>
        </p:txBody>
      </p:sp>
      <p:sp>
        <p:nvSpPr>
          <p:cNvPr id="745" name="Google Shape;745;p77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77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77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8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ppins"/>
                <a:ea typeface="Poppins"/>
                <a:cs typeface="Poppins"/>
                <a:sym typeface="Poppins"/>
              </a:rPr>
              <a:t>CTC Unit Model + WFST Lexicon Decoder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p78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4" name="Google Shape;754;p78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5" name="Google Shape;755;p78"/>
          <p:cNvSpPr txBox="1"/>
          <p:nvPr/>
        </p:nvSpPr>
        <p:spPr>
          <a:xfrm>
            <a:off x="283475" y="920550"/>
            <a:ext cx="838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6" name="Google Shape;756;p78"/>
          <p:cNvSpPr txBox="1"/>
          <p:nvPr/>
        </p:nvSpPr>
        <p:spPr>
          <a:xfrm>
            <a:off x="4551338" y="994426"/>
            <a:ext cx="192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Unit Accuracy ( by CTC )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Validation : 0.941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Test	     : 0.929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7" name="Google Shape;757;p78"/>
          <p:cNvSpPr txBox="1"/>
          <p:nvPr/>
        </p:nvSpPr>
        <p:spPr>
          <a:xfrm>
            <a:off x="6709011" y="994433"/>
            <a:ext cx="2196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CTC + WFST Accuracy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Validation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	: 0.948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5	: 0.976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10	: 0.976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Test 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	: 0.942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5	: 0.972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Top 10	: 0.972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8" name="Google Shape;758;p78"/>
          <p:cNvSpPr txBox="1"/>
          <p:nvPr/>
        </p:nvSpPr>
        <p:spPr>
          <a:xfrm>
            <a:off x="4551352" y="2956516"/>
            <a:ext cx="298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Prediction Statistics ( test dataset )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59" name="Google Shape;75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183175"/>
            <a:ext cx="4133284" cy="3564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0" name="Google Shape;760;p78"/>
          <p:cNvGraphicFramePr/>
          <p:nvPr/>
        </p:nvGraphicFramePr>
        <p:xfrm>
          <a:off x="4915400" y="33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2142475"/>
                <a:gridCol w="636850"/>
                <a:gridCol w="1037050"/>
              </a:tblGrid>
              <a:tr h="16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case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count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ratio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30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unit_correct_syllable_correct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2373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0.930588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unit_correct_syllable_wrong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0.005882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unit_wrong_syllable_wrong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0.051765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unit_wrong_syllable_correct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0.011765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9"/>
          <p:cNvSpPr txBox="1"/>
          <p:nvPr>
            <p:ph idx="32" type="title"/>
          </p:nvPr>
        </p:nvSpPr>
        <p:spPr>
          <a:xfrm>
            <a:off x="283475" y="433725"/>
            <a:ext cx="85707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ppins"/>
                <a:ea typeface="Poppins"/>
                <a:cs typeface="Poppins"/>
                <a:sym typeface="Poppins"/>
              </a:rPr>
              <a:t>CTC Unit Model + WFST Lexicon Decoder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6" name="Google Shape;766;p79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7" name="Google Shape;767;p79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8" name="Google Shape;768;p79"/>
          <p:cNvSpPr txBox="1"/>
          <p:nvPr/>
        </p:nvSpPr>
        <p:spPr>
          <a:xfrm>
            <a:off x="289896" y="758033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unit_correct_syllable_wrong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9" name="Google Shape;769;p79"/>
          <p:cNvSpPr txBox="1"/>
          <p:nvPr/>
        </p:nvSpPr>
        <p:spPr>
          <a:xfrm>
            <a:off x="289891" y="2029104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unit_wrong_syllable_correct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0" name="Google Shape;770;p79"/>
          <p:cNvSpPr txBox="1"/>
          <p:nvPr/>
        </p:nvSpPr>
        <p:spPr>
          <a:xfrm>
            <a:off x="283466" y="3300171"/>
            <a:ext cx="38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Confusion Sample ( unit_wrong_syllable_wrong )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71" name="Google Shape;771;p79"/>
          <p:cNvGraphicFramePr/>
          <p:nvPr/>
        </p:nvGraphicFramePr>
        <p:xfrm>
          <a:off x="914400" y="1117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952500"/>
                <a:gridCol w="952500"/>
                <a:gridCol w="952500"/>
                <a:gridCol w="952500"/>
                <a:gridCol w="1600200"/>
                <a:gridCol w="952500"/>
                <a:gridCol w="952500"/>
              </a:tblGrid>
              <a:tr h="112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sample_index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true_syllable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pred_units_ctc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pred_topk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decode_distance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12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3305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ယောင်း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[ေယ, ာ,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[ေယ, ာ,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ကာင်း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[ကာင်း, ကောင်း]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8.386525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3307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ယောင်း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[ေယ, ာ,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[ေယ, ာ,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None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NaN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4077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ငေါက်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[ေင, ါ, က်]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[ေင, ါ, က်]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ဒေါက်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[ဒေါက်]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9.008787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4794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ဖော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[ေဖ, ာ]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[ေဖ, ာ]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ဃော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[ဃော, ဗော, ဟော]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8.856107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5406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ပြွမ်း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[ပ, ြ, ွ, မ်,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[ပ, ြ, ွ, မ်,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None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NaN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2" name="Google Shape;772;p79"/>
          <p:cNvGraphicFramePr/>
          <p:nvPr/>
        </p:nvGraphicFramePr>
        <p:xfrm>
          <a:off x="914400" y="23587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1054075"/>
                <a:gridCol w="1054075"/>
                <a:gridCol w="1054075"/>
                <a:gridCol w="1054075"/>
                <a:gridCol w="1054075"/>
                <a:gridCol w="1054075"/>
                <a:gridCol w="990825"/>
              </a:tblGrid>
              <a:tr h="14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sample_index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true_syllable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pred_units_ctc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pred_topk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decode_distance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734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866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နော်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[ေန, ာ, 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[ေန, 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နော်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[နော်, နေက်, နေ့, နောက်]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3.655353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970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ရှင်း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[ရ, ှ,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[ဂ, ှ, င်,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ရှင်း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[ရှင်း, ဂျင်း]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3.665559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1018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ဦး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[ဥ, ီ,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[ဥ, 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ဦး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[ဦး, ခီး]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3.576554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4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1418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ဤ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[ဤ]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[က, ဤ]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ဤ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[ဤ, ကဋ်, ကပ်, ဋ်, ပ်]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2.954883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3076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မည့်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[မ, ည်, ့]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[မ, ည်, 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မည့်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[မည့်, မည့်]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2.247309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3" name="Google Shape;773;p79"/>
          <p:cNvGraphicFramePr/>
          <p:nvPr/>
        </p:nvGraphicFramePr>
        <p:xfrm>
          <a:off x="911225" y="3683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{6DD38FC7-7B36-44CC-84E8-E727122F5E91}</a:tableStyleId>
              </a:tblPr>
              <a:tblGrid>
                <a:gridCol w="952500"/>
                <a:gridCol w="952500"/>
                <a:gridCol w="952500"/>
                <a:gridCol w="1600225"/>
                <a:gridCol w="952500"/>
                <a:gridCol w="952500"/>
                <a:gridCol w="952500"/>
              </a:tblGrid>
              <a:tr h="14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sample_index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true_syllable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true_units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pred_units_ctc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pred_topk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decode_distance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185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[တ, ွ, ေ]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[တ, ွ, ေ, ့]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[တွေ့, တွေ, တေ့, တေ]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1.189078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63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ဖြစ်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[ဖ, ြ, စ်]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[ပ, ြ, စ်]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ပြစ်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[ပြစ်, ပစ်, ပျစ်, ဖြစ်, ပုစ်]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0.900143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114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လို့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[လ, ိ, ု, ့]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[က, ိ, ု, ့]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ကို့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[ကို့, လို့, ဂို့, ကို, စို့, လို, ဂို]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0.971038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177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ခု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[ခ, ု]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[ဍ]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ဍ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[ဍ, ဥ, ဋ, န, ခ]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0.951035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321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[န, ှ]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[ဒ]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ဒ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[ဒ, န, ဌ, ဠ, အ]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0.832802</a:t>
                      </a:r>
                      <a:endParaRPr sz="700">
                        <a:solidFill>
                          <a:schemeClr val="lt1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0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Ask away!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81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84" name="Google Shape;784;p81"/>
          <p:cNvSpPr txBox="1"/>
          <p:nvPr/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Aung Hein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5" name="Google Shape;785;p81"/>
          <p:cNvSpPr txBox="1"/>
          <p:nvPr/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May 2026</a:t>
            </a:r>
            <a:endParaRPr sz="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