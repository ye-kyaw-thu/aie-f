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257800" cy="5143500"/>
          </a:xfrm>
          <a:prstGeom prst="rect">
            <a:avLst/>
          </a:prstGeom>
          <a:solidFill>
            <a:srgbClr val="0A3D31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1617111"/>
            <a:ext cx="4114800" cy="1645853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F4F7F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SCRDR Rule-Based Classification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71500" y="3477276"/>
            <a:ext cx="4114800" cy="241102"/>
          </a:xfrm>
          <a:prstGeom prst="rect">
            <a:avLst/>
          </a:prstGeom>
          <a:noFill/>
          <a:ln/>
        </p:spPr>
        <p:txBody>
          <a:bodyPr wrap="square" lIns="323215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6A08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An Analysis of Snake Species Identification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829300" y="1490225"/>
            <a:ext cx="274320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700" b="1" spc="2" kern="0" dirty="0">
                <a:solidFill>
                  <a:srgbClr val="0A3D31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PROJECT SCOPE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5829300" y="1707747"/>
            <a:ext cx="1978819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Performance Evaluation and Model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829300" y="1939193"/>
            <a:ext cx="2160984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Interpretation for Herpetological Data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829300" y="2276010"/>
            <a:ext cx="274320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700" b="1" spc="2" kern="0" dirty="0">
                <a:solidFill>
                  <a:srgbClr val="0A3D31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DATASET SUMMARY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829300" y="2493532"/>
            <a:ext cx="1518047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18 Unique Species Records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829300" y="2830348"/>
            <a:ext cx="274320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700" b="1" spc="2" kern="0" dirty="0">
                <a:solidFill>
                  <a:srgbClr val="0A3D31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MODEL FRAMEWORK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5829300" y="3047870"/>
            <a:ext cx="2436019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Single Cascade Ripple Down Rules (SCRDR)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829300" y="3384686"/>
            <a:ext cx="274320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700" b="1" spc="2" kern="0" dirty="0">
                <a:solidFill>
                  <a:srgbClr val="0A3D31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GROUP 3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5829300" y="3602208"/>
            <a:ext cx="760809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Assignment 4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77652"/>
            <a:ext cx="8572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A3D31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Dataset Composition and Characteristics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814388" y="1606339"/>
            <a:ext cx="3543300" cy="11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16A08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TAXONOMIC SAMPLE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814388" y="1761716"/>
            <a:ext cx="1860947" cy="273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3D31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18 Unique Species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14388" y="2106402"/>
            <a:ext cx="35433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dataset provides a broad taxonomic overview, encompassing 18 distinct snake species from diverse families.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14388" y="2803587"/>
            <a:ext cx="3543300" cy="11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16A08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DATA DISTRIBUTION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814388" y="2958964"/>
            <a:ext cx="1923455" cy="273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3D31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Perfectly Balanced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14388" y="3303650"/>
            <a:ext cx="35433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Each species is represented by exactly one record, creating a balanced but small-scale foundational dataset.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786313" y="1606339"/>
            <a:ext cx="3786188" cy="3011091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2063" y="1920664"/>
            <a:ext cx="171450" cy="1714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50669" y="1892089"/>
            <a:ext cx="16269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A3D31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Categorical Features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072063" y="2385008"/>
            <a:ext cx="784027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Species Name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7400925" y="2385008"/>
            <a:ext cx="885825" cy="158948"/>
          </a:xfrm>
          <a:prstGeom prst="rect">
            <a:avLst/>
          </a:prstGeom>
          <a:solidFill>
            <a:srgbClr val="F4F7F6"/>
          </a:solidFill>
          <a:ln/>
        </p:spPr>
      </p:sp>
      <p:sp>
        <p:nvSpPr>
          <p:cNvPr id="15" name="Text 11"/>
          <p:cNvSpPr/>
          <p:nvPr/>
        </p:nvSpPr>
        <p:spPr>
          <a:xfrm>
            <a:off x="7400925" y="2385008"/>
            <a:ext cx="885825" cy="158948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6A08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TARGET VARIABLE</a:t>
            </a:r>
            <a:endParaRPr lang="en-US" sz="600" dirty="0"/>
          </a:p>
        </p:txBody>
      </p:sp>
      <p:sp>
        <p:nvSpPr>
          <p:cNvPr id="16" name="Text 12"/>
          <p:cNvSpPr/>
          <p:nvPr/>
        </p:nvSpPr>
        <p:spPr>
          <a:xfrm>
            <a:off x="5072063" y="2722550"/>
            <a:ext cx="778669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Venom Status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7734895" y="2722550"/>
            <a:ext cx="551855" cy="158948"/>
          </a:xfrm>
          <a:prstGeom prst="rect">
            <a:avLst/>
          </a:prstGeom>
          <a:solidFill>
            <a:srgbClr val="F4F7F6"/>
          </a:solidFill>
          <a:ln/>
        </p:spPr>
      </p:sp>
      <p:sp>
        <p:nvSpPr>
          <p:cNvPr id="18" name="Text 14"/>
          <p:cNvSpPr/>
          <p:nvPr/>
        </p:nvSpPr>
        <p:spPr>
          <a:xfrm>
            <a:off x="7734895" y="2722550"/>
            <a:ext cx="551855" cy="158948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6A08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BOOLEAN</a:t>
            </a:r>
            <a:endParaRPr lang="en-US" sz="600" dirty="0"/>
          </a:p>
        </p:txBody>
      </p:sp>
      <p:sp>
        <p:nvSpPr>
          <p:cNvPr id="19" name="Text 15"/>
          <p:cNvSpPr/>
          <p:nvPr/>
        </p:nvSpPr>
        <p:spPr>
          <a:xfrm>
            <a:off x="5072063" y="3060092"/>
            <a:ext cx="671513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Head Shape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7558088" y="3060092"/>
            <a:ext cx="728663" cy="158948"/>
          </a:xfrm>
          <a:prstGeom prst="rect">
            <a:avLst/>
          </a:prstGeom>
          <a:solidFill>
            <a:srgbClr val="F4F7F6"/>
          </a:solidFill>
          <a:ln/>
        </p:spPr>
      </p:sp>
      <p:sp>
        <p:nvSpPr>
          <p:cNvPr id="21" name="Text 17"/>
          <p:cNvSpPr/>
          <p:nvPr/>
        </p:nvSpPr>
        <p:spPr>
          <a:xfrm>
            <a:off x="7558088" y="3060092"/>
            <a:ext cx="728663" cy="158948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6A08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CATEGORICAL</a:t>
            </a:r>
            <a:endParaRPr lang="en-US" sz="600" dirty="0"/>
          </a:p>
        </p:txBody>
      </p:sp>
      <p:sp>
        <p:nvSpPr>
          <p:cNvPr id="22" name="Text 18"/>
          <p:cNvSpPr/>
          <p:nvPr/>
        </p:nvSpPr>
        <p:spPr>
          <a:xfrm>
            <a:off x="5072063" y="3397634"/>
            <a:ext cx="517922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Eye Pupil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7558088" y="3397634"/>
            <a:ext cx="728663" cy="158948"/>
          </a:xfrm>
          <a:prstGeom prst="rect">
            <a:avLst/>
          </a:prstGeom>
          <a:solidFill>
            <a:srgbClr val="F4F7F6"/>
          </a:solidFill>
          <a:ln/>
        </p:spPr>
      </p:sp>
      <p:sp>
        <p:nvSpPr>
          <p:cNvPr id="24" name="Text 20"/>
          <p:cNvSpPr/>
          <p:nvPr/>
        </p:nvSpPr>
        <p:spPr>
          <a:xfrm>
            <a:off x="7558088" y="3397634"/>
            <a:ext cx="728663" cy="158948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6A08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CATEGORICAL</a:t>
            </a:r>
            <a:endParaRPr lang="en-US" sz="600" dirty="0"/>
          </a:p>
        </p:txBody>
      </p:sp>
      <p:sp>
        <p:nvSpPr>
          <p:cNvPr id="25" name="Text 21"/>
          <p:cNvSpPr/>
          <p:nvPr/>
        </p:nvSpPr>
        <p:spPr>
          <a:xfrm>
            <a:off x="5072063" y="3735177"/>
            <a:ext cx="746522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Body Pattern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7558088" y="3735177"/>
            <a:ext cx="728663" cy="158948"/>
          </a:xfrm>
          <a:prstGeom prst="rect">
            <a:avLst/>
          </a:prstGeom>
          <a:solidFill>
            <a:srgbClr val="F4F7F6"/>
          </a:solidFill>
          <a:ln/>
        </p:spPr>
      </p:sp>
      <p:sp>
        <p:nvSpPr>
          <p:cNvPr id="27" name="Text 23"/>
          <p:cNvSpPr/>
          <p:nvPr/>
        </p:nvSpPr>
        <p:spPr>
          <a:xfrm>
            <a:off x="7558088" y="3735177"/>
            <a:ext cx="728663" cy="158948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6A08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CATEGORICAL</a:t>
            </a:r>
            <a:endParaRPr lang="en-US" sz="600" dirty="0"/>
          </a:p>
        </p:txBody>
      </p:sp>
      <p:sp>
        <p:nvSpPr>
          <p:cNvPr id="28" name="Text 24"/>
          <p:cNvSpPr/>
          <p:nvPr/>
        </p:nvSpPr>
        <p:spPr>
          <a:xfrm>
            <a:off x="5072063" y="4072719"/>
            <a:ext cx="428625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Habitat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7558088" y="4072719"/>
            <a:ext cx="728663" cy="158948"/>
          </a:xfrm>
          <a:prstGeom prst="rect">
            <a:avLst/>
          </a:prstGeom>
          <a:solidFill>
            <a:srgbClr val="F4F7F6"/>
          </a:solidFill>
          <a:ln/>
        </p:spPr>
      </p:sp>
      <p:sp>
        <p:nvSpPr>
          <p:cNvPr id="30" name="Text 26"/>
          <p:cNvSpPr/>
          <p:nvPr/>
        </p:nvSpPr>
        <p:spPr>
          <a:xfrm>
            <a:off x="7558088" y="4072719"/>
            <a:ext cx="728663" cy="158948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16A08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CATEGORICAL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77652"/>
            <a:ext cx="8572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A3D31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Morphological Feature Distribution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606339"/>
            <a:ext cx="2586038" cy="3316486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362670" y="1820652"/>
            <a:ext cx="989409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0A3D31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Venom Status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2172481"/>
            <a:ext cx="2143125" cy="17145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5813" y="4065575"/>
            <a:ext cx="21431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16A08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33%</a:t>
            </a:r>
            <a:r>
              <a:rPr lang="en-US" sz="85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of sampled species are venomous </a:t>
            </a:r>
            <a:r>
              <a:rPr lang="en-US" sz="85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(6/18), while </a:t>
            </a:r>
            <a:r>
              <a:rPr lang="en-US" sz="800" b="1" dirty="0">
                <a:solidFill>
                  <a:srgbClr val="16A08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67%</a:t>
            </a:r>
            <a:r>
              <a:rPr lang="en-US" sz="85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are non-venomous.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3429000" y="1606339"/>
            <a:ext cx="2586038" cy="3316486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286250" y="1820652"/>
            <a:ext cx="857250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0A3D31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Head Shape</a:t>
            </a:r>
            <a:endParaRPr lang="en-US" sz="11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3313" y="2172481"/>
            <a:ext cx="2143125" cy="17145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643313" y="4065575"/>
            <a:ext cx="21431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16A08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Oval heads</a:t>
            </a:r>
            <a:r>
              <a:rPr lang="en-US" sz="85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are the dominant morphology </a:t>
            </a:r>
            <a:r>
              <a:rPr lang="en-US" sz="85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(13/18), compared to triangular shapes </a:t>
            </a:r>
            <a:r>
              <a:rPr lang="en-US" sz="85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(5/18).</a:t>
            </a:r>
            <a:endParaRPr lang="en-US" sz="850" dirty="0"/>
          </a:p>
        </p:txBody>
      </p:sp>
      <p:sp>
        <p:nvSpPr>
          <p:cNvPr id="12" name="Shape 7"/>
          <p:cNvSpPr/>
          <p:nvPr/>
        </p:nvSpPr>
        <p:spPr>
          <a:xfrm>
            <a:off x="6286500" y="1606339"/>
            <a:ext cx="2586038" cy="3302198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749951" y="1820652"/>
            <a:ext cx="164484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0A3D31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Ocular Characteristics</a:t>
            </a:r>
            <a:endParaRPr lang="en-US" sz="11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0813" y="2172481"/>
            <a:ext cx="2143125" cy="17145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00813" y="4065575"/>
            <a:ext cx="21431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16A08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Round pupils</a:t>
            </a:r>
            <a:r>
              <a:rPr lang="en-US" sz="85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are more prevalent (11/18) </a:t>
            </a:r>
            <a:r>
              <a:rPr lang="en-US" sz="85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than vertical slit pupils (7/18).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77652"/>
            <a:ext cx="8572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A3D31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Ecological and Pattern Analysis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534902"/>
            <a:ext cx="3857625" cy="3466114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85813" y="1749214"/>
            <a:ext cx="3429000" cy="228600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A3D31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Body Pattern Diversity</a:t>
            </a:r>
            <a:endParaRPr lang="en-US" sz="12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2120689"/>
            <a:ext cx="3414713" cy="21431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5813" y="4406689"/>
            <a:ext cx="342900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Solid, banded, and blotched patterns are equally represented as the most common traits in this sample.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4714875" y="1534902"/>
            <a:ext cx="3857625" cy="3466114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929188" y="1749214"/>
            <a:ext cx="3429000" cy="228600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A3D31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Habitat Distribution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188" y="2120689"/>
            <a:ext cx="3414713" cy="21431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29188" y="4406689"/>
            <a:ext cx="342900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16A08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61%</a:t>
            </a:r>
            <a:r>
              <a:rPr lang="en-US" sz="85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of species are ground-dwelling, reflecting common sampling </a:t>
            </a:r>
            <a:r>
              <a:rPr lang="en-US" sz="85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biases in herpetological surveys.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77652"/>
            <a:ext cx="8572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A3D31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SCRDR Model Architecture and Feature Importance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778669" y="1392027"/>
            <a:ext cx="3299743" cy="11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16A08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MODEL FRAMEWORK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778669" y="1547403"/>
            <a:ext cx="1521619" cy="24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3D31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SCRDR Classifier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8669" y="1895661"/>
            <a:ext cx="3299743" cy="11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16A08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STRUCTURAL COMPLEXITY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778669" y="2051038"/>
            <a:ext cx="1291233" cy="24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3D31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20 Rule Nodes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8669" y="2399295"/>
            <a:ext cx="3299743" cy="11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16A08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MAXIMUM TREE DEPTH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778669" y="2554672"/>
            <a:ext cx="1844873" cy="24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3D31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4 Hierarchical Levels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71500" y="2974367"/>
            <a:ext cx="3506912" cy="627171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i="1" dirty="0">
                <a:solidFill>
                  <a:srgbClr val="5555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rule-based SCRDR architecture ensures full transparency, allowing for direct interpretation of the classification logic applied to each species.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364162" y="1392027"/>
            <a:ext cx="4208338" cy="2866039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07037" y="1534902"/>
            <a:ext cx="39225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0A3D31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Feature Importance Ranking</a:t>
            </a:r>
            <a:endParaRPr lang="en-US" sz="12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037" y="1906377"/>
            <a:ext cx="3907631" cy="164306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07037" y="3620877"/>
            <a:ext cx="3922588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i="1" dirty="0">
                <a:solidFill>
                  <a:srgbClr val="55555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Primary Predictor:</a:t>
            </a:r>
            <a:r>
              <a:rPr lang="en-US" sz="850" i="1" dirty="0">
                <a:solidFill>
                  <a:srgbClr val="5555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Body pattern is the most influential feature, utilized in 9 </a:t>
            </a:r>
            <a:r>
              <a:rPr lang="en-US" sz="850" i="1" dirty="0">
                <a:solidFill>
                  <a:srgbClr val="55555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separate rule conditions.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77652"/>
            <a:ext cx="8572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A3D31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Quantitative Performance Metrics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534902"/>
            <a:ext cx="2524116" cy="1091208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85813" y="1749214"/>
            <a:ext cx="209549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3500" dirty="0">
                <a:solidFill>
                  <a:srgbClr val="0A3D31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94.4%</a:t>
            </a:r>
            <a:endParaRPr lang="en-US" sz="3500" dirty="0"/>
          </a:p>
        </p:txBody>
      </p:sp>
      <p:sp>
        <p:nvSpPr>
          <p:cNvPr id="6" name="Text 3"/>
          <p:cNvSpPr/>
          <p:nvPr/>
        </p:nvSpPr>
        <p:spPr>
          <a:xfrm>
            <a:off x="785813" y="2277852"/>
            <a:ext cx="2095491" cy="11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spc="2" kern="0" dirty="0">
                <a:solidFill>
                  <a:srgbClr val="16A08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OVERALL ACCURACY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3309928" y="1534902"/>
            <a:ext cx="2524116" cy="1091208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524241" y="1749214"/>
            <a:ext cx="209549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3500" dirty="0">
                <a:solidFill>
                  <a:srgbClr val="0A3D31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0.93</a:t>
            </a:r>
            <a:endParaRPr lang="en-US" sz="3500" dirty="0"/>
          </a:p>
        </p:txBody>
      </p:sp>
      <p:sp>
        <p:nvSpPr>
          <p:cNvPr id="9" name="Text 6"/>
          <p:cNvSpPr/>
          <p:nvPr/>
        </p:nvSpPr>
        <p:spPr>
          <a:xfrm>
            <a:off x="3524241" y="2277852"/>
            <a:ext cx="2095491" cy="11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spc="2" kern="0" dirty="0">
                <a:solidFill>
                  <a:srgbClr val="16A08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MACRO F1-SCORE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6048356" y="1534902"/>
            <a:ext cx="2524144" cy="1091208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62669" y="1749214"/>
            <a:ext cx="209551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80000"/>
              </a:lnSpc>
              <a:buNone/>
            </a:pPr>
            <a:r>
              <a:rPr lang="en-US" sz="3500" dirty="0">
                <a:solidFill>
                  <a:srgbClr val="0A3D31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17/18</a:t>
            </a:r>
            <a:endParaRPr lang="en-US" sz="3500" dirty="0"/>
          </a:p>
        </p:txBody>
      </p:sp>
      <p:sp>
        <p:nvSpPr>
          <p:cNvPr id="12" name="Text 9"/>
          <p:cNvSpPr/>
          <p:nvPr/>
        </p:nvSpPr>
        <p:spPr>
          <a:xfrm>
            <a:off x="6262669" y="2277852"/>
            <a:ext cx="2095519" cy="11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spc="2" kern="0" dirty="0">
                <a:solidFill>
                  <a:srgbClr val="16A08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CORRECT PREDICTIONS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571500" y="2897572"/>
            <a:ext cx="8001000" cy="1576983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1500" y="2897572"/>
            <a:ext cx="1905958" cy="385763"/>
          </a:xfrm>
          <a:prstGeom prst="rect">
            <a:avLst/>
          </a:prstGeom>
          <a:solidFill>
            <a:srgbClr val="0A3D31"/>
          </a:solidFill>
          <a:ln/>
        </p:spPr>
      </p:sp>
      <p:sp>
        <p:nvSpPr>
          <p:cNvPr id="15" name="Text 12"/>
          <p:cNvSpPr/>
          <p:nvPr/>
        </p:nvSpPr>
        <p:spPr>
          <a:xfrm>
            <a:off x="571500" y="2897572"/>
            <a:ext cx="1905958" cy="3857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F7F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Metric Category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477458" y="2897572"/>
            <a:ext cx="1781222" cy="385763"/>
          </a:xfrm>
          <a:prstGeom prst="rect">
            <a:avLst/>
          </a:prstGeom>
          <a:solidFill>
            <a:srgbClr val="0A3D31"/>
          </a:solidFill>
          <a:ln/>
        </p:spPr>
      </p:sp>
      <p:sp>
        <p:nvSpPr>
          <p:cNvPr id="17" name="Text 14"/>
          <p:cNvSpPr/>
          <p:nvPr/>
        </p:nvSpPr>
        <p:spPr>
          <a:xfrm>
            <a:off x="2477458" y="2897572"/>
            <a:ext cx="1781222" cy="3857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F7F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Macro Average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258680" y="2897572"/>
            <a:ext cx="2065520" cy="385763"/>
          </a:xfrm>
          <a:prstGeom prst="rect">
            <a:avLst/>
          </a:prstGeom>
          <a:solidFill>
            <a:srgbClr val="0A3D31"/>
          </a:solidFill>
          <a:ln/>
        </p:spPr>
      </p:sp>
      <p:sp>
        <p:nvSpPr>
          <p:cNvPr id="19" name="Text 16"/>
          <p:cNvSpPr/>
          <p:nvPr/>
        </p:nvSpPr>
        <p:spPr>
          <a:xfrm>
            <a:off x="4258680" y="2897572"/>
            <a:ext cx="2065520" cy="3857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F7F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Weighted Average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324200" y="2897572"/>
            <a:ext cx="2248300" cy="385763"/>
          </a:xfrm>
          <a:prstGeom prst="rect">
            <a:avLst/>
          </a:prstGeom>
          <a:solidFill>
            <a:srgbClr val="0A3D31"/>
          </a:solidFill>
          <a:ln/>
        </p:spPr>
      </p:sp>
      <p:sp>
        <p:nvSpPr>
          <p:cNvPr id="21" name="Text 18"/>
          <p:cNvSpPr/>
          <p:nvPr/>
        </p:nvSpPr>
        <p:spPr>
          <a:xfrm>
            <a:off x="6324200" y="2897572"/>
            <a:ext cx="2248300" cy="3857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F7F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Performance Status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71500" y="3283334"/>
            <a:ext cx="1905958" cy="39112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Precision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2477458" y="3283334"/>
            <a:ext cx="1781222" cy="39112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0.92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258680" y="3283334"/>
            <a:ext cx="2065520" cy="39112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0.92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431356" y="3404778"/>
            <a:ext cx="901898" cy="158948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26" name="Text 23"/>
          <p:cNvSpPr/>
          <p:nvPr/>
        </p:nvSpPr>
        <p:spPr>
          <a:xfrm>
            <a:off x="6431356" y="3404778"/>
            <a:ext cx="901898" cy="158948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HIGH RELIABILITY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571500" y="3674455"/>
            <a:ext cx="1905958" cy="39469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Recall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2477458" y="3674455"/>
            <a:ext cx="1781222" cy="39469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0.94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4258680" y="3674455"/>
            <a:ext cx="2065520" cy="39469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0.94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6431356" y="3799470"/>
            <a:ext cx="910828" cy="158948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1" name="Text 28"/>
          <p:cNvSpPr/>
          <p:nvPr/>
        </p:nvSpPr>
        <p:spPr>
          <a:xfrm>
            <a:off x="6431356" y="3799470"/>
            <a:ext cx="910828" cy="158948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HIGH SENSITIVITY</a:t>
            </a:r>
            <a:endParaRPr lang="en-US" sz="600" dirty="0"/>
          </a:p>
        </p:txBody>
      </p:sp>
      <p:sp>
        <p:nvSpPr>
          <p:cNvPr id="32" name="Shape 29"/>
          <p:cNvSpPr/>
          <p:nvPr/>
        </p:nvSpPr>
        <p:spPr>
          <a:xfrm>
            <a:off x="571500" y="4069147"/>
            <a:ext cx="8001000" cy="391120"/>
          </a:xfrm>
          <a:prstGeom prst="rect">
            <a:avLst/>
          </a:prstGeom>
          <a:solidFill>
            <a:srgbClr val="F9FBFA"/>
          </a:solidFill>
          <a:ln/>
        </p:spPr>
      </p:sp>
      <p:sp>
        <p:nvSpPr>
          <p:cNvPr id="33" name="Text 30"/>
          <p:cNvSpPr/>
          <p:nvPr/>
        </p:nvSpPr>
        <p:spPr>
          <a:xfrm>
            <a:off x="571500" y="4069147"/>
            <a:ext cx="1905958" cy="39112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F1-Score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2477458" y="4069147"/>
            <a:ext cx="1781222" cy="39112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0.93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258680" y="4069147"/>
            <a:ext cx="2065520" cy="39112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C3E50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0.93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6431356" y="4194163"/>
            <a:ext cx="964406" cy="158948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7" name="Text 34"/>
          <p:cNvSpPr/>
          <p:nvPr/>
        </p:nvSpPr>
        <p:spPr>
          <a:xfrm>
            <a:off x="6431356" y="4194163"/>
            <a:ext cx="964406" cy="158948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OPTIMAL BALANCE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77652"/>
            <a:ext cx="8572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A3D31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Analysis of Classification Error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363452"/>
            <a:ext cx="3929063" cy="1975247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5800" y="1477752"/>
            <a:ext cx="3700463" cy="11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16A08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ACTUAL CLASSIFICATION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685800" y="1668847"/>
            <a:ext cx="3700463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0A3D31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Sunbeam Snake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85800" y="2058181"/>
            <a:ext cx="1480179" cy="226814"/>
          </a:xfrm>
          <a:prstGeom prst="rect">
            <a:avLst/>
          </a:prstGeom>
          <a:noFill/>
          <a:ln/>
        </p:spPr>
        <p:txBody>
          <a:bodyPr wrap="square" lIns="0" tIns="51054" rIns="0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F8C8D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Venom Status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165979" y="2058181"/>
            <a:ext cx="2220283" cy="226814"/>
          </a:xfrm>
          <a:prstGeom prst="rect">
            <a:avLst/>
          </a:prstGeom>
          <a:noFill/>
          <a:ln/>
        </p:spPr>
        <p:txBody>
          <a:bodyPr wrap="square" lIns="0" tIns="51054" rIns="0" bIns="51054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False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85800" y="2284995"/>
            <a:ext cx="1480179" cy="230386"/>
          </a:xfrm>
          <a:prstGeom prst="rect">
            <a:avLst/>
          </a:prstGeom>
          <a:noFill/>
          <a:ln/>
        </p:spPr>
        <p:txBody>
          <a:bodyPr wrap="square" lIns="0" tIns="51054" rIns="0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F8C8D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Head Shape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165979" y="2284995"/>
            <a:ext cx="2220283" cy="230386"/>
          </a:xfrm>
          <a:prstGeom prst="rect">
            <a:avLst/>
          </a:prstGeom>
          <a:noFill/>
          <a:ln/>
        </p:spPr>
        <p:txBody>
          <a:bodyPr wrap="square" lIns="0" tIns="51054" rIns="0" bIns="51054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Oval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85800" y="2515381"/>
            <a:ext cx="1480179" cy="230386"/>
          </a:xfrm>
          <a:prstGeom prst="rect">
            <a:avLst/>
          </a:prstGeom>
          <a:noFill/>
          <a:ln/>
        </p:spPr>
        <p:txBody>
          <a:bodyPr wrap="square" lIns="0" tIns="51054" rIns="0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F8C8D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Eye Pupil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165979" y="2515381"/>
            <a:ext cx="2220283" cy="230386"/>
          </a:xfrm>
          <a:prstGeom prst="rect">
            <a:avLst/>
          </a:prstGeom>
          <a:noFill/>
          <a:ln/>
        </p:spPr>
        <p:txBody>
          <a:bodyPr wrap="square" lIns="0" tIns="51054" rIns="0" bIns="51054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Round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85800" y="2745767"/>
            <a:ext cx="1480179" cy="230386"/>
          </a:xfrm>
          <a:prstGeom prst="rect">
            <a:avLst/>
          </a:prstGeom>
          <a:noFill/>
          <a:ln/>
        </p:spPr>
        <p:txBody>
          <a:bodyPr wrap="square" lIns="0" tIns="51054" rIns="0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F8C8D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Body Pattern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165979" y="2745767"/>
            <a:ext cx="2220283" cy="230386"/>
          </a:xfrm>
          <a:prstGeom prst="rect">
            <a:avLst/>
          </a:prstGeom>
          <a:noFill/>
          <a:ln/>
        </p:spPr>
        <p:txBody>
          <a:bodyPr wrap="square" lIns="0" tIns="51054" rIns="0" bIns="51054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Solid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85800" y="2976153"/>
            <a:ext cx="1480179" cy="230386"/>
          </a:xfrm>
          <a:prstGeom prst="rect">
            <a:avLst/>
          </a:prstGeom>
          <a:noFill/>
          <a:ln/>
        </p:spPr>
        <p:txBody>
          <a:bodyPr wrap="square" lIns="0" tIns="51054" rIns="0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F8C8D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Habitat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165979" y="2976153"/>
            <a:ext cx="2220283" cy="230386"/>
          </a:xfrm>
          <a:prstGeom prst="rect">
            <a:avLst/>
          </a:prstGeom>
          <a:noFill/>
          <a:ln/>
        </p:spPr>
        <p:txBody>
          <a:bodyPr wrap="square" lIns="0" tIns="51054" rIns="0" bIns="51054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Ground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643438" y="1363452"/>
            <a:ext cx="3929063" cy="1975247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57738" y="1477752"/>
            <a:ext cx="3700463" cy="11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E74C3C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MODEL PREDICTION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757738" y="1668847"/>
            <a:ext cx="3700463" cy="303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0A3D31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Oriental Rat Snake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4757738" y="2058181"/>
            <a:ext cx="1480179" cy="226814"/>
          </a:xfrm>
          <a:prstGeom prst="rect">
            <a:avLst/>
          </a:prstGeom>
          <a:noFill/>
          <a:ln/>
        </p:spPr>
        <p:txBody>
          <a:bodyPr wrap="square" lIns="0" tIns="51054" rIns="0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F8C8D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Venom Status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237917" y="2058181"/>
            <a:ext cx="2220283" cy="226814"/>
          </a:xfrm>
          <a:prstGeom prst="rect">
            <a:avLst/>
          </a:prstGeom>
          <a:noFill/>
          <a:ln/>
        </p:spPr>
        <p:txBody>
          <a:bodyPr wrap="square" lIns="0" tIns="51054" rIns="0" bIns="51054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False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757738" y="2284995"/>
            <a:ext cx="1480179" cy="230386"/>
          </a:xfrm>
          <a:prstGeom prst="rect">
            <a:avLst/>
          </a:prstGeom>
          <a:noFill/>
          <a:ln/>
        </p:spPr>
        <p:txBody>
          <a:bodyPr wrap="square" lIns="0" tIns="51054" rIns="0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F8C8D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Head Shape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237917" y="2284995"/>
            <a:ext cx="2220283" cy="230386"/>
          </a:xfrm>
          <a:prstGeom prst="rect">
            <a:avLst/>
          </a:prstGeom>
          <a:noFill/>
          <a:ln/>
        </p:spPr>
        <p:txBody>
          <a:bodyPr wrap="square" lIns="0" tIns="51054" rIns="0" bIns="51054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Oval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4757738" y="2515381"/>
            <a:ext cx="1480179" cy="230386"/>
          </a:xfrm>
          <a:prstGeom prst="rect">
            <a:avLst/>
          </a:prstGeom>
          <a:noFill/>
          <a:ln/>
        </p:spPr>
        <p:txBody>
          <a:bodyPr wrap="square" lIns="0" tIns="51054" rIns="0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F8C8D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Eye Pupil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237917" y="2515381"/>
            <a:ext cx="2220283" cy="230386"/>
          </a:xfrm>
          <a:prstGeom prst="rect">
            <a:avLst/>
          </a:prstGeom>
          <a:noFill/>
          <a:ln/>
        </p:spPr>
        <p:txBody>
          <a:bodyPr wrap="square" lIns="0" tIns="51054" rIns="0" bIns="51054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Round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4757738" y="2745767"/>
            <a:ext cx="1480179" cy="230386"/>
          </a:xfrm>
          <a:prstGeom prst="rect">
            <a:avLst/>
          </a:prstGeom>
          <a:noFill/>
          <a:ln/>
        </p:spPr>
        <p:txBody>
          <a:bodyPr wrap="square" lIns="0" tIns="51054" rIns="0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F8C8D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Body Pattern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237917" y="2745767"/>
            <a:ext cx="2220283" cy="230386"/>
          </a:xfrm>
          <a:prstGeom prst="rect">
            <a:avLst/>
          </a:prstGeom>
          <a:noFill/>
          <a:ln/>
        </p:spPr>
        <p:txBody>
          <a:bodyPr wrap="square" lIns="0" tIns="51054" rIns="0" bIns="51054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Solid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4757738" y="2976153"/>
            <a:ext cx="1480179" cy="230386"/>
          </a:xfrm>
          <a:prstGeom prst="rect">
            <a:avLst/>
          </a:prstGeom>
          <a:noFill/>
          <a:ln/>
        </p:spPr>
        <p:txBody>
          <a:bodyPr wrap="square" lIns="0" tIns="51054" rIns="0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F8C8D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Habitat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237917" y="2976153"/>
            <a:ext cx="2220283" cy="230386"/>
          </a:xfrm>
          <a:prstGeom prst="rect">
            <a:avLst/>
          </a:prstGeom>
          <a:noFill/>
          <a:ln/>
        </p:spPr>
        <p:txBody>
          <a:bodyPr wrap="square" lIns="0" tIns="51054" rIns="0" bIns="51054" rtlCol="0" anchor="ctr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Ground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71500" y="3467286"/>
            <a:ext cx="8001000" cy="1125810"/>
          </a:xfrm>
          <a:prstGeom prst="rect">
            <a:avLst/>
          </a:prstGeom>
          <a:solidFill>
            <a:srgbClr val="0A3D31"/>
          </a:solidFill>
          <a:ln/>
        </p:spPr>
      </p:sp>
      <p:sp>
        <p:nvSpPr>
          <p:cNvPr id="31" name="Text 28"/>
          <p:cNvSpPr/>
          <p:nvPr/>
        </p:nvSpPr>
        <p:spPr>
          <a:xfrm>
            <a:off x="685800" y="358158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6A085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Causal Analysis: Morphological Convergence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685800" y="3938774"/>
            <a:ext cx="77724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4F7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identification failure stems from </a:t>
            </a:r>
            <a:r>
              <a:rPr lang="en-US" sz="900" b="1" dirty="0">
                <a:solidFill>
                  <a:srgbClr val="F4F7F6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categorical ambiguity</a:t>
            </a:r>
            <a:r>
              <a:rPr lang="en-US" sz="950" dirty="0">
                <a:solidFill>
                  <a:srgbClr val="F4F7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 Both species share identical values across the primary morphological and </a:t>
            </a:r>
            <a:r>
              <a:rPr lang="en-US" sz="950" dirty="0">
                <a:solidFill>
                  <a:srgbClr val="F4F7F6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ecological features used by the model, making them indistinguishable under the current rule set.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77652"/>
            <a:ext cx="8572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A3D31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Strategic Improvements and Model Scalability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606339"/>
            <a:ext cx="3857625" cy="13544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606339"/>
            <a:ext cx="3857625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" name="Shape 3"/>
          <p:cNvSpPr/>
          <p:nvPr/>
        </p:nvSpPr>
        <p:spPr>
          <a:xfrm>
            <a:off x="4421981" y="1606339"/>
            <a:ext cx="7144" cy="135443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606339"/>
            <a:ext cx="42863" cy="1354438"/>
          </a:xfrm>
          <a:prstGeom prst="rect">
            <a:avLst/>
          </a:prstGeom>
          <a:solidFill>
            <a:srgbClr val="16A085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959" y="1851906"/>
            <a:ext cx="150019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07281" y="1820652"/>
            <a:ext cx="17359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A3D31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Sample Augmentation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785813" y="2156408"/>
            <a:ext cx="3429000" cy="58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Increasing the number of samples per species is essential to </a:t>
            </a:r>
            <a:r>
              <a:rPr lang="en-US" sz="90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validate </a:t>
            </a:r>
            <a:r>
              <a:rPr lang="en-US" sz="850" b="1" dirty="0">
                <a:solidFill>
                  <a:srgbClr val="0A3D31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real-world generalization</a:t>
            </a:r>
            <a:r>
              <a:rPr lang="en-US" sz="90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and reduce overfitting on the </a:t>
            </a:r>
            <a:r>
              <a:rPr lang="en-US" sz="90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current limited dataset.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4714875" y="1606339"/>
            <a:ext cx="3857625" cy="13544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8"/>
          <p:cNvSpPr/>
          <p:nvPr/>
        </p:nvSpPr>
        <p:spPr>
          <a:xfrm>
            <a:off x="4714875" y="1606339"/>
            <a:ext cx="3857625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3" name="Shape 9"/>
          <p:cNvSpPr/>
          <p:nvPr/>
        </p:nvSpPr>
        <p:spPr>
          <a:xfrm>
            <a:off x="8565356" y="1606339"/>
            <a:ext cx="7144" cy="135443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4" name="Shape 10"/>
          <p:cNvSpPr/>
          <p:nvPr/>
        </p:nvSpPr>
        <p:spPr>
          <a:xfrm>
            <a:off x="4714875" y="1606339"/>
            <a:ext cx="42863" cy="1354438"/>
          </a:xfrm>
          <a:prstGeom prst="rect">
            <a:avLst/>
          </a:prstGeom>
          <a:solidFill>
            <a:srgbClr val="16A08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0619" y="1851906"/>
            <a:ext cx="171450" cy="1714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50656" y="1820652"/>
            <a:ext cx="15519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A3D31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Feature Refinement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4929188" y="2156408"/>
            <a:ext cx="3429000" cy="58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Incorporating </a:t>
            </a:r>
            <a:r>
              <a:rPr lang="en-US" sz="850" b="1" dirty="0">
                <a:solidFill>
                  <a:srgbClr val="0A3D31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finer-grained morphological</a:t>
            </a:r>
            <a:r>
              <a:rPr lang="en-US" sz="90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or geographic data is </a:t>
            </a:r>
            <a:r>
              <a:rPr lang="en-US" sz="90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necessary to resolve identification conflicts between </a:t>
            </a:r>
            <a:r>
              <a:rPr lang="en-US" sz="90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convergent species.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571500" y="3239384"/>
            <a:ext cx="3857625" cy="13544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4"/>
          <p:cNvSpPr/>
          <p:nvPr/>
        </p:nvSpPr>
        <p:spPr>
          <a:xfrm>
            <a:off x="571500" y="3239384"/>
            <a:ext cx="3857625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0" name="Shape 15"/>
          <p:cNvSpPr/>
          <p:nvPr/>
        </p:nvSpPr>
        <p:spPr>
          <a:xfrm>
            <a:off x="4421981" y="3239384"/>
            <a:ext cx="7144" cy="135443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1" name="Shape 16"/>
          <p:cNvSpPr/>
          <p:nvPr/>
        </p:nvSpPr>
        <p:spPr>
          <a:xfrm>
            <a:off x="571500" y="3239384"/>
            <a:ext cx="42863" cy="1354438"/>
          </a:xfrm>
          <a:prstGeom prst="rect">
            <a:avLst/>
          </a:prstGeom>
          <a:solidFill>
            <a:srgbClr val="16A085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244" y="3484950"/>
            <a:ext cx="171450" cy="17145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07281" y="3453696"/>
            <a:ext cx="15037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A3D31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Validation Strategy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85813" y="3789452"/>
            <a:ext cx="3429000" cy="58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Implementing a dedicated </a:t>
            </a:r>
            <a:r>
              <a:rPr lang="en-US" sz="850" b="1" dirty="0">
                <a:solidFill>
                  <a:srgbClr val="0A3D31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hold-out test set</a:t>
            </a:r>
            <a:r>
              <a:rPr lang="en-US" sz="90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will provide an </a:t>
            </a:r>
            <a:r>
              <a:rPr lang="en-US" sz="90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unbiased performance estimate and ensure model robustness </a:t>
            </a:r>
            <a:r>
              <a:rPr lang="en-US" sz="90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against unseen data.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4714875" y="3239384"/>
            <a:ext cx="3857625" cy="13544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0"/>
          <p:cNvSpPr/>
          <p:nvPr/>
        </p:nvSpPr>
        <p:spPr>
          <a:xfrm>
            <a:off x="4714875" y="3239384"/>
            <a:ext cx="3857625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7" name="Shape 21"/>
          <p:cNvSpPr/>
          <p:nvPr/>
        </p:nvSpPr>
        <p:spPr>
          <a:xfrm>
            <a:off x="8565356" y="3239384"/>
            <a:ext cx="7144" cy="135443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8" name="Shape 22"/>
          <p:cNvSpPr/>
          <p:nvPr/>
        </p:nvSpPr>
        <p:spPr>
          <a:xfrm>
            <a:off x="4714875" y="3239384"/>
            <a:ext cx="42863" cy="1354438"/>
          </a:xfrm>
          <a:prstGeom prst="rect">
            <a:avLst/>
          </a:prstGeom>
          <a:solidFill>
            <a:srgbClr val="16A08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0619" y="3484950"/>
            <a:ext cx="171450" cy="17145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250656" y="3453696"/>
            <a:ext cx="13608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A3D31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Model Scalability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4929188" y="3789452"/>
            <a:ext cx="3429000" cy="58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Transitioning from a single tree to a </a:t>
            </a:r>
            <a:r>
              <a:rPr lang="en-US" sz="850" b="1" dirty="0">
                <a:solidFill>
                  <a:srgbClr val="0A3D31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multi-cascade architecture</a:t>
            </a:r>
            <a:r>
              <a:rPr lang="en-US" sz="90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to accommodate a larger taxonomic scope and more complex </a:t>
            </a:r>
            <a:r>
              <a:rPr lang="en-US" sz="900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decision boundaries.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571500" y="4738092"/>
            <a:ext cx="2521744" cy="11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16A08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STRATEGIC ROADMAP FOR RESEARCH PHASE II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929188" cy="5143500"/>
          </a:xfrm>
          <a:prstGeom prst="rect">
            <a:avLst/>
          </a:prstGeom>
          <a:solidFill>
            <a:srgbClr val="0A3D31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1235366"/>
            <a:ext cx="3929063" cy="822927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F4F7F6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Conclusion and Summary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571500" y="2344043"/>
            <a:ext cx="3929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6A085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Internal Validity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71500" y="2701230"/>
            <a:ext cx="392906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D4F1F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model demonstrates high internal validity for species identification within the current taxonomic scope, achieving 94.4% accuracy.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71500" y="3554127"/>
            <a:ext cx="3929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6A085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Decision Transparency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71500" y="3911315"/>
            <a:ext cx="392906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D4F1F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rule-based nature of the SCRDR framework ensures full transparency in the decision-making process, essential for academic and professional applications.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357813" y="571500"/>
            <a:ext cx="3214688" cy="1614488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00688" y="857250"/>
            <a:ext cx="2928938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050" i="1" dirty="0">
                <a:solidFill>
                  <a:srgbClr val="2C3E5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"The SCRDR model provides a robust and interpretable framework for herpetological classification, balancing high accuracy with the transparency required for scientific inquiry."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357813" y="2300288"/>
            <a:ext cx="3214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6A085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Future Outlook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357813" y="2657475"/>
            <a:ext cx="3214688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D4F1F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Future iterations will prioritize resolving morphological ambiguities through expanded data collection and refined feature granularity.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357813" y="3653247"/>
            <a:ext cx="3214688" cy="119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16A08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END OF PRESENTATION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2026-04-30T19:43:59Z</dcterms:created>
  <dcterms:modified xsi:type="dcterms:W3CDTF">2026-04-30T19:43:59Z</dcterms:modified>
</cp:coreProperties>
</file>