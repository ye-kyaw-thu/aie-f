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4"/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Constantia"/>
      <p:regular r:id="rId23"/>
      <p:bold r:id="rId24"/>
      <p:italic r:id="rId25"/>
      <p:boldItalic r:id="rId26"/>
    </p:embeddedFont>
    <p:embeddedFont>
      <p:font typeface="Montserrat"/>
      <p:regular r:id="rId27"/>
      <p:bold r:id="rId28"/>
      <p:italic r:id="rId29"/>
      <p:boldItalic r:id="rId30"/>
    </p:embeddedFont>
    <p:embeddedFont>
      <p:font typeface="Lato"/>
      <p:regular r:id="rId31"/>
      <p:bold r:id="rId32"/>
      <p:italic r:id="rId33"/>
      <p:boldItalic r:id="rId34"/>
    </p:embeddedFont>
    <p:embeddedFont>
      <p:font typeface="Dancing Script"/>
      <p:regular r:id="rId35"/>
      <p:bold r:id="rId36"/>
    </p:embeddedFont>
    <p:embeddedFont>
      <p:font typeface="Open Sans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Constantia-bold.fntdata"/><Relationship Id="rId23" Type="http://schemas.openxmlformats.org/officeDocument/2006/relationships/font" Target="fonts/Constantia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Constantia-boldItalic.fntdata"/><Relationship Id="rId25" Type="http://schemas.openxmlformats.org/officeDocument/2006/relationships/font" Target="fonts/Constantia-italic.fntdata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regular.fntdata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5.xml"/><Relationship Id="rId33" Type="http://schemas.openxmlformats.org/officeDocument/2006/relationships/font" Target="fonts/Lato-italic.fntdata"/><Relationship Id="rId10" Type="http://schemas.openxmlformats.org/officeDocument/2006/relationships/slide" Target="slides/slide4.xml"/><Relationship Id="rId32" Type="http://schemas.openxmlformats.org/officeDocument/2006/relationships/font" Target="fonts/Lato-bold.fntdata"/><Relationship Id="rId13" Type="http://schemas.openxmlformats.org/officeDocument/2006/relationships/slide" Target="slides/slide7.xml"/><Relationship Id="rId35" Type="http://schemas.openxmlformats.org/officeDocument/2006/relationships/font" Target="fonts/DancingScript-regular.fntdata"/><Relationship Id="rId12" Type="http://schemas.openxmlformats.org/officeDocument/2006/relationships/slide" Target="slides/slide6.xml"/><Relationship Id="rId34" Type="http://schemas.openxmlformats.org/officeDocument/2006/relationships/font" Target="fonts/Lato-boldItalic.fntdata"/><Relationship Id="rId15" Type="http://schemas.openxmlformats.org/officeDocument/2006/relationships/slide" Target="slides/slide9.xml"/><Relationship Id="rId37" Type="http://schemas.openxmlformats.org/officeDocument/2006/relationships/font" Target="fonts/OpenSans-regular.fntdata"/><Relationship Id="rId14" Type="http://schemas.openxmlformats.org/officeDocument/2006/relationships/slide" Target="slides/slide8.xml"/><Relationship Id="rId36" Type="http://schemas.openxmlformats.org/officeDocument/2006/relationships/font" Target="fonts/DancingScript-bold.fntdata"/><Relationship Id="rId17" Type="http://schemas.openxmlformats.org/officeDocument/2006/relationships/slide" Target="slides/slide11.xml"/><Relationship Id="rId39" Type="http://schemas.openxmlformats.org/officeDocument/2006/relationships/font" Target="fonts/OpenSans-italic.fntdata"/><Relationship Id="rId16" Type="http://schemas.openxmlformats.org/officeDocument/2006/relationships/slide" Target="slides/slide10.xml"/><Relationship Id="rId38" Type="http://schemas.openxmlformats.org/officeDocument/2006/relationships/font" Target="fonts/OpenSans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183162cf9_1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g3d183162cf9_1_1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183162cf9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g3d183162cf9_1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183162cf9_1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3" name="Google Shape;233;g3d183162cf9_1_2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a07a538d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da07a538d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183162cf9_1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g3d183162cf9_1_4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183162cf9_1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6" name="Google Shape;266;g3d183162cf9_1_5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da0560d33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da0560d3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d183162cf9_1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4" name="Google Shape;294;g3d183162cf9_1_6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d183162cf9_1_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3" name="Google Shape;313;g3d183162cf9_1_7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da0853d50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5" name="Google Shape;325;g3da0853d502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d9fce48a8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d9fce48a8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da0853d50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da0853d50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d183162cf9_1_9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d183162cf9_1_9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d9fce48a83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d9fce48a8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d183162cf9_1_9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6" name="Google Shape;366;g3d183162cf9_1_9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8" name="Google Shape;138;p14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9" name="Google Shape;139;p14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2" name="Google Shape;142;p15"/>
          <p:cNvSpPr txBox="1"/>
          <p:nvPr>
            <p:ph idx="1" type="body"/>
          </p:nvPr>
        </p:nvSpPr>
        <p:spPr>
          <a:xfrm>
            <a:off x="228600" y="800100"/>
            <a:ext cx="4114800" cy="22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43" name="Google Shape;143;p15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4" name="Google Shape;144;p15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5" name="Google Shape;145;p15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/>
          <p:nvPr>
            <p:ph type="title"/>
          </p:nvPr>
        </p:nvSpPr>
        <p:spPr>
          <a:xfrm>
            <a:off x="361156" y="2203450"/>
            <a:ext cx="38862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8" name="Google Shape;148;p16"/>
          <p:cNvSpPr txBox="1"/>
          <p:nvPr>
            <p:ph idx="1" type="body"/>
          </p:nvPr>
        </p:nvSpPr>
        <p:spPr>
          <a:xfrm>
            <a:off x="361156" y="1453357"/>
            <a:ext cx="38862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0" name="Google Shape;150;p16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1" name="Google Shape;151;p16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4" name="Google Shape;154;p17"/>
          <p:cNvSpPr txBox="1"/>
          <p:nvPr>
            <p:ph idx="1" type="body"/>
          </p:nvPr>
        </p:nvSpPr>
        <p:spPr>
          <a:xfrm>
            <a:off x="228600" y="800100"/>
            <a:ext cx="2019300" cy="22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155" name="Google Shape;155;p17"/>
          <p:cNvSpPr txBox="1"/>
          <p:nvPr>
            <p:ph idx="2" type="body"/>
          </p:nvPr>
        </p:nvSpPr>
        <p:spPr>
          <a:xfrm>
            <a:off x="2324100" y="800100"/>
            <a:ext cx="2019300" cy="22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156" name="Google Shape;156;p17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7" name="Google Shape;157;p17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8" name="Google Shape;158;p17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61" name="Google Shape;161;p18"/>
          <p:cNvSpPr txBox="1"/>
          <p:nvPr>
            <p:ph idx="1" type="body"/>
          </p:nvPr>
        </p:nvSpPr>
        <p:spPr>
          <a:xfrm>
            <a:off x="228600" y="767556"/>
            <a:ext cx="20202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162" name="Google Shape;162;p18"/>
          <p:cNvSpPr txBox="1"/>
          <p:nvPr>
            <p:ph idx="2" type="body"/>
          </p:nvPr>
        </p:nvSpPr>
        <p:spPr>
          <a:xfrm>
            <a:off x="228600" y="1087438"/>
            <a:ext cx="2020200" cy="19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163" name="Google Shape;163;p18"/>
          <p:cNvSpPr txBox="1"/>
          <p:nvPr>
            <p:ph idx="3" type="body"/>
          </p:nvPr>
        </p:nvSpPr>
        <p:spPr>
          <a:xfrm>
            <a:off x="2322513" y="767556"/>
            <a:ext cx="20208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164" name="Google Shape;164;p18"/>
          <p:cNvSpPr txBox="1"/>
          <p:nvPr>
            <p:ph idx="4" type="body"/>
          </p:nvPr>
        </p:nvSpPr>
        <p:spPr>
          <a:xfrm>
            <a:off x="2322513" y="1087438"/>
            <a:ext cx="2020800" cy="19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165" name="Google Shape;165;p18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66" name="Google Shape;166;p18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67" name="Google Shape;167;p18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0" name="Google Shape;170;p19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1" name="Google Shape;171;p19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2" name="Google Shape;172;p19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/>
          <p:nvPr>
            <p:ph type="title"/>
          </p:nvPr>
        </p:nvSpPr>
        <p:spPr>
          <a:xfrm>
            <a:off x="228600" y="136525"/>
            <a:ext cx="15042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5" name="Google Shape;175;p20"/>
          <p:cNvSpPr txBox="1"/>
          <p:nvPr>
            <p:ph idx="1" type="body"/>
          </p:nvPr>
        </p:nvSpPr>
        <p:spPr>
          <a:xfrm>
            <a:off x="1787525" y="136525"/>
            <a:ext cx="2556000" cy="29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76" name="Google Shape;176;p20"/>
          <p:cNvSpPr txBox="1"/>
          <p:nvPr>
            <p:ph idx="2" type="body"/>
          </p:nvPr>
        </p:nvSpPr>
        <p:spPr>
          <a:xfrm>
            <a:off x="228600" y="717550"/>
            <a:ext cx="1504200" cy="23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77" name="Google Shape;177;p20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8" name="Google Shape;178;p20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9" name="Google Shape;179;p20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>
            <p:ph type="title"/>
          </p:nvPr>
        </p:nvSpPr>
        <p:spPr>
          <a:xfrm>
            <a:off x="896144" y="2400300"/>
            <a:ext cx="2743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82" name="Google Shape;182;p21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896144" y="2683669"/>
            <a:ext cx="2743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84" name="Google Shape;184;p21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85" name="Google Shape;185;p21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86" name="Google Shape;186;p21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89" name="Google Shape;189;p22"/>
          <p:cNvSpPr txBox="1"/>
          <p:nvPr>
            <p:ph idx="1" type="body"/>
          </p:nvPr>
        </p:nvSpPr>
        <p:spPr>
          <a:xfrm rot="5400000">
            <a:off x="1154550" y="-125850"/>
            <a:ext cx="22629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90" name="Google Shape;190;p22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1" name="Google Shape;191;p22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2" name="Google Shape;192;p22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 rot="5400000">
            <a:off x="2366100" y="1085919"/>
            <a:ext cx="29259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5" name="Google Shape;195;p23"/>
          <p:cNvSpPr txBox="1"/>
          <p:nvPr>
            <p:ph idx="1" type="body"/>
          </p:nvPr>
        </p:nvSpPr>
        <p:spPr>
          <a:xfrm rot="5400000">
            <a:off x="270600" y="95318"/>
            <a:ext cx="2925900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96" name="Google Shape;196;p23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7" name="Google Shape;197;p23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8" name="Google Shape;198;p23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2" name="Google Shape;132;p13"/>
          <p:cNvSpPr txBox="1"/>
          <p:nvPr>
            <p:ph idx="1" type="body"/>
          </p:nvPr>
        </p:nvSpPr>
        <p:spPr>
          <a:xfrm>
            <a:off x="228600" y="800100"/>
            <a:ext cx="4114800" cy="22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3" name="Google Shape;133;p13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image" Target="../media/image9.png"/><Relationship Id="rId8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/>
          <p:nvPr>
            <p:ph type="ctrTitle"/>
          </p:nvPr>
        </p:nvSpPr>
        <p:spPr>
          <a:xfrm>
            <a:off x="3006550" y="1078850"/>
            <a:ext cx="55296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80"/>
              <a:t>Hybrid-ELIZA</a:t>
            </a:r>
            <a:endParaRPr sz="328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80"/>
              <a:t>Rule-Based Dialogue with Deep Learning Emotion Detection</a:t>
            </a:r>
            <a:endParaRPr sz="3280"/>
          </a:p>
        </p:txBody>
      </p:sp>
      <p:sp>
        <p:nvSpPr>
          <p:cNvPr id="204" name="Google Shape;204;p24"/>
          <p:cNvSpPr txBox="1"/>
          <p:nvPr>
            <p:ph idx="1" type="subTitle"/>
          </p:nvPr>
        </p:nvSpPr>
        <p:spPr>
          <a:xfrm>
            <a:off x="3132000" y="3702900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GROUP - IV</a:t>
            </a:r>
            <a:endParaRPr b="1" sz="1700"/>
          </a:p>
        </p:txBody>
      </p:sp>
      <p:sp>
        <p:nvSpPr>
          <p:cNvPr id="205" name="Google Shape;205;p24"/>
          <p:cNvSpPr txBox="1"/>
          <p:nvPr>
            <p:ph idx="1" type="subTitle"/>
          </p:nvPr>
        </p:nvSpPr>
        <p:spPr>
          <a:xfrm>
            <a:off x="7289700" y="4505050"/>
            <a:ext cx="16764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22 March, 2026</a:t>
            </a:r>
            <a:endParaRPr b="1"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 txBox="1"/>
          <p:nvPr/>
        </p:nvSpPr>
        <p:spPr>
          <a:xfrm>
            <a:off x="514350" y="4323854"/>
            <a:ext cx="1750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LET’S GET STARTED</a:t>
            </a:r>
            <a:endParaRPr b="0" i="0" sz="7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11" name="Google Shape;211;p25"/>
          <p:cNvGrpSpPr/>
          <p:nvPr/>
        </p:nvGrpSpPr>
        <p:grpSpPr>
          <a:xfrm>
            <a:off x="8837359" y="-72329"/>
            <a:ext cx="1542830" cy="5808358"/>
            <a:chOff x="0" y="-38100"/>
            <a:chExt cx="812700" cy="3059607"/>
          </a:xfrm>
        </p:grpSpPr>
        <p:sp>
          <p:nvSpPr>
            <p:cNvPr id="212" name="Google Shape;212;p25"/>
            <p:cNvSpPr/>
            <p:nvPr/>
          </p:nvSpPr>
          <p:spPr>
            <a:xfrm>
              <a:off x="0" y="0"/>
              <a:ext cx="161523" cy="3021507"/>
            </a:xfrm>
            <a:custGeom>
              <a:rect b="b" l="l" r="r" t="t"/>
              <a:pathLst>
                <a:path extrusionOk="0" h="3021507" w="161523">
                  <a:moveTo>
                    <a:pt x="0" y="0"/>
                  </a:moveTo>
                  <a:lnTo>
                    <a:pt x="161523" y="0"/>
                  </a:lnTo>
                  <a:lnTo>
                    <a:pt x="161523" y="3021507"/>
                  </a:lnTo>
                  <a:lnTo>
                    <a:pt x="0" y="3021507"/>
                  </a:lnTo>
                  <a:close/>
                </a:path>
              </a:pathLst>
            </a:custGeom>
            <a:solidFill>
              <a:srgbClr val="000000">
                <a:alpha val="62350"/>
              </a:srgbClr>
            </a:solidFill>
            <a:ln>
              <a:noFill/>
            </a:ln>
          </p:spPr>
        </p:sp>
        <p:sp>
          <p:nvSpPr>
            <p:cNvPr id="213" name="Google Shape;213;p25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" name="Google Shape;214;p25"/>
          <p:cNvSpPr txBox="1"/>
          <p:nvPr/>
        </p:nvSpPr>
        <p:spPr>
          <a:xfrm rot="5400000">
            <a:off x="8633564" y="2517954"/>
            <a:ext cx="766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" name="Google Shape;215;p25"/>
          <p:cNvCxnSpPr/>
          <p:nvPr/>
        </p:nvCxnSpPr>
        <p:spPr>
          <a:xfrm flipH="1">
            <a:off x="4574400" y="0"/>
            <a:ext cx="18000" cy="2520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25"/>
          <p:cNvSpPr txBox="1"/>
          <p:nvPr/>
        </p:nvSpPr>
        <p:spPr>
          <a:xfrm>
            <a:off x="394373" y="225254"/>
            <a:ext cx="51891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Presentation Outline</a:t>
            </a:r>
            <a:endParaRPr b="1" i="0" sz="2500" u="none" cap="none" strike="noStrike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br>
              <a:rPr b="0" i="0" lang="en" sz="2400" u="none" cap="none" strike="noStrike">
                <a:solidFill>
                  <a:srgbClr val="0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</a:br>
            <a:endParaRPr b="0" i="0" sz="2400" u="none" cap="none" strike="noStrike">
              <a:solidFill>
                <a:srgbClr val="0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5"/>
          <p:cNvSpPr/>
          <p:nvPr/>
        </p:nvSpPr>
        <p:spPr>
          <a:xfrm>
            <a:off x="711850" y="952850"/>
            <a:ext cx="3589800" cy="4071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75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Collection</a:t>
            </a:r>
            <a:endParaRPr/>
          </a:p>
          <a:p>
            <a:pPr indent="-3175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Burmese Language Script Architecture</a:t>
            </a:r>
            <a:endParaRPr/>
          </a:p>
          <a:p>
            <a:pPr indent="-3175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Model Training</a:t>
            </a:r>
            <a:endParaRPr/>
          </a:p>
          <a:p>
            <a:pPr indent="-3175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Testing the Emotion Model</a:t>
            </a:r>
            <a:endParaRPr/>
          </a:p>
          <a:p>
            <a:pPr indent="-3175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 Evaluation Metric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Findings &amp; Factors to be considered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Challenges &amp; Constraints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92399" y="2745554"/>
            <a:ext cx="4244959" cy="2371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25254"/>
            <a:ext cx="4265359" cy="2346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/>
          <p:cNvSpPr txBox="1"/>
          <p:nvPr/>
        </p:nvSpPr>
        <p:spPr>
          <a:xfrm>
            <a:off x="743112" y="287031"/>
            <a:ext cx="582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Group Members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5" name="Google Shape;225;p26"/>
          <p:cNvGrpSpPr/>
          <p:nvPr/>
        </p:nvGrpSpPr>
        <p:grpSpPr>
          <a:xfrm>
            <a:off x="8837359" y="-72329"/>
            <a:ext cx="1542830" cy="5808358"/>
            <a:chOff x="0" y="-38100"/>
            <a:chExt cx="812700" cy="3059607"/>
          </a:xfrm>
        </p:grpSpPr>
        <p:sp>
          <p:nvSpPr>
            <p:cNvPr id="226" name="Google Shape;226;p26"/>
            <p:cNvSpPr/>
            <p:nvPr/>
          </p:nvSpPr>
          <p:spPr>
            <a:xfrm>
              <a:off x="0" y="0"/>
              <a:ext cx="161523" cy="3021507"/>
            </a:xfrm>
            <a:custGeom>
              <a:rect b="b" l="l" r="r" t="t"/>
              <a:pathLst>
                <a:path extrusionOk="0" h="3021507" w="161523">
                  <a:moveTo>
                    <a:pt x="0" y="0"/>
                  </a:moveTo>
                  <a:lnTo>
                    <a:pt x="161523" y="0"/>
                  </a:lnTo>
                  <a:lnTo>
                    <a:pt x="161523" y="3021507"/>
                  </a:lnTo>
                  <a:lnTo>
                    <a:pt x="0" y="3021507"/>
                  </a:lnTo>
                  <a:close/>
                </a:path>
              </a:pathLst>
            </a:custGeom>
            <a:solidFill>
              <a:srgbClr val="FFFFFF">
                <a:alpha val="13330"/>
              </a:srgbClr>
            </a:solidFill>
            <a:ln>
              <a:noFill/>
            </a:ln>
          </p:spPr>
        </p:sp>
        <p:sp>
          <p:nvSpPr>
            <p:cNvPr id="227" name="Google Shape;227;p26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p26"/>
          <p:cNvSpPr txBox="1"/>
          <p:nvPr/>
        </p:nvSpPr>
        <p:spPr>
          <a:xfrm rot="5400000">
            <a:off x="8633564" y="2517954"/>
            <a:ext cx="766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9" name="Google Shape;229;p26"/>
          <p:cNvCxnSpPr/>
          <p:nvPr/>
        </p:nvCxnSpPr>
        <p:spPr>
          <a:xfrm rot="5400000">
            <a:off x="-878848" y="1619569"/>
            <a:ext cx="32439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" name="Google Shape;230;p26"/>
          <p:cNvSpPr txBox="1"/>
          <p:nvPr/>
        </p:nvSpPr>
        <p:spPr>
          <a:xfrm>
            <a:off x="955075" y="1015700"/>
            <a:ext cx="6237300" cy="3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AUNG CHAN NYEIN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PHYU PYAR CHAN MYAE KYAW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MYAT THIN THIN KYI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HTET HTET WIN NAUNG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MYO AUNG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KHIN NYEIN CHAN THU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 LARB MON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HSU SAN LIN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LIN LAT EAIN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THANT HTUT AUNG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7"/>
          <p:cNvSpPr txBox="1"/>
          <p:nvPr/>
        </p:nvSpPr>
        <p:spPr>
          <a:xfrm>
            <a:off x="0" y="8"/>
            <a:ext cx="4704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" sz="3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Data Collection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6" name="Google Shape;236;p27"/>
          <p:cNvCxnSpPr/>
          <p:nvPr/>
        </p:nvCxnSpPr>
        <p:spPr>
          <a:xfrm rot="5400000">
            <a:off x="7221169" y="4650142"/>
            <a:ext cx="2812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" name="Google Shape;237;p27"/>
          <p:cNvSpPr txBox="1"/>
          <p:nvPr/>
        </p:nvSpPr>
        <p:spPr>
          <a:xfrm rot="5400000">
            <a:off x="9353974" y="2517950"/>
            <a:ext cx="766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  E  X  T</a:t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7"/>
          <p:cNvSpPr/>
          <p:nvPr/>
        </p:nvSpPr>
        <p:spPr>
          <a:xfrm>
            <a:off x="53850" y="1086175"/>
            <a:ext cx="8962800" cy="38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i="0" lang="en" sz="1600" u="none" cap="none" strike="noStrike">
                <a:solidFill>
                  <a:schemeClr val="lt1"/>
                </a:solidFill>
                <a:highlight>
                  <a:srgbClr val="000000"/>
                </a:highlight>
              </a:rPr>
              <a:t>Collected </a:t>
            </a:r>
            <a:r>
              <a:rPr i="0" lang="en" sz="1600" u="none" cap="none" strike="noStrike">
                <a:solidFill>
                  <a:schemeClr val="accent2"/>
                </a:solidFill>
                <a:highlight>
                  <a:srgbClr val="000000"/>
                </a:highlight>
              </a:rPr>
              <a:t>Myanmar (Burmese) language text data </a:t>
            </a:r>
            <a:r>
              <a:rPr i="0" lang="en" sz="1600" u="none" cap="none" strike="noStrike">
                <a:solidFill>
                  <a:schemeClr val="lt1"/>
                </a:solidFill>
                <a:highlight>
                  <a:srgbClr val="000000"/>
                </a:highlight>
              </a:rPr>
              <a:t>from various sources (social media, articles, and Tiktok and </a:t>
            </a:r>
            <a:r>
              <a:rPr i="0" lang="en" sz="1600" u="none" cap="none" strike="noStrike">
                <a:solidFill>
                  <a:schemeClr val="lt1"/>
                </a:solidFill>
                <a:highlight>
                  <a:srgbClr val="000000"/>
                </a:highlight>
              </a:rPr>
              <a:t>F</a:t>
            </a:r>
            <a:r>
              <a:rPr i="0" lang="en" sz="1600" u="none" cap="none" strike="noStrike">
                <a:solidFill>
                  <a:schemeClr val="lt1"/>
                </a:solidFill>
                <a:highlight>
                  <a:srgbClr val="000000"/>
                </a:highlight>
              </a:rPr>
              <a:t>acebook content) </a:t>
            </a:r>
            <a:endParaRPr/>
          </a:p>
          <a:p>
            <a:pPr indent="-330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i="0" lang="en" sz="1600" u="none" cap="none" strike="noStrike">
                <a:solidFill>
                  <a:schemeClr val="lt1"/>
                </a:solidFill>
              </a:rPr>
              <a:t>Ensured the dataset includes </a:t>
            </a:r>
            <a:r>
              <a:rPr i="0" lang="en" sz="1600" u="none" cap="none" strike="noStrike">
                <a:solidFill>
                  <a:srgbClr val="76923C"/>
                </a:solidFill>
              </a:rPr>
              <a:t>six emotional expressions </a:t>
            </a:r>
            <a:r>
              <a:rPr i="0" lang="en" sz="1600" u="none" cap="none" strike="noStrike">
                <a:solidFill>
                  <a:schemeClr val="lt1"/>
                </a:solidFill>
              </a:rPr>
              <a:t>and make sure </a:t>
            </a:r>
            <a:r>
              <a:rPr i="0" lang="en" sz="1600" u="none" cap="none" strike="noStrike">
                <a:solidFill>
                  <a:srgbClr val="76923C"/>
                </a:solidFill>
              </a:rPr>
              <a:t>to balance </a:t>
            </a:r>
            <a:r>
              <a:rPr i="0" lang="en" sz="1600" u="none" cap="none" strike="noStrike">
                <a:solidFill>
                  <a:schemeClr val="lt1"/>
                </a:solidFill>
              </a:rPr>
              <a:t>for model training </a:t>
            </a:r>
            <a:endParaRPr/>
          </a:p>
          <a:p>
            <a:pPr indent="-330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nstantia"/>
              <a:buChar char="•"/>
            </a:pPr>
            <a:r>
              <a:rPr i="0" lang="en" sz="1600" u="none" cap="none" strike="noStrike">
                <a:solidFill>
                  <a:schemeClr val="lt1"/>
                </a:solidFill>
              </a:rPr>
              <a:t>Initial text collecting and organization performed using </a:t>
            </a:r>
            <a:r>
              <a:rPr b="1" i="0" lang="en" sz="1600" u="none" cap="none" strike="noStrike">
                <a:solidFill>
                  <a:schemeClr val="accent1"/>
                </a:solidFill>
              </a:rPr>
              <a:t>Notepad++</a:t>
            </a:r>
            <a:r>
              <a:rPr i="0" lang="en" sz="1600" u="none" cap="none" strike="noStrike">
                <a:solidFill>
                  <a:schemeClr val="accent1"/>
                </a:solidFill>
              </a:rPr>
              <a:t> </a:t>
            </a:r>
            <a:endParaRPr/>
          </a:p>
          <a:p>
            <a:pPr indent="-330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nstantia"/>
              <a:buChar char="•"/>
            </a:pPr>
            <a:r>
              <a:rPr i="0" lang="en" sz="1600" u="none" cap="none" strike="noStrike">
                <a:solidFill>
                  <a:schemeClr val="lt1"/>
                </a:solidFill>
              </a:rPr>
              <a:t>Removed duplicates, shuffles, s</a:t>
            </a:r>
            <a:r>
              <a:rPr i="0" lang="en" sz="1600" u="none" cap="none" strike="noStrike">
                <a:solidFill>
                  <a:schemeClr val="lt1"/>
                </a:solidFill>
              </a:rPr>
              <a:t>tructured and labeled the data </a:t>
            </a:r>
            <a:r>
              <a:rPr i="0" lang="en" sz="1600" u="none" cap="none" strike="noStrike">
                <a:solidFill>
                  <a:srgbClr val="00B050"/>
                </a:solidFill>
              </a:rPr>
              <a:t>in </a:t>
            </a:r>
            <a:r>
              <a:rPr b="1" i="0" lang="en" sz="1600" u="none" cap="none" strike="noStrike">
                <a:solidFill>
                  <a:srgbClr val="00B050"/>
                </a:solidFill>
              </a:rPr>
              <a:t>Microsoft Excel</a:t>
            </a:r>
            <a:r>
              <a:rPr i="0" lang="en" sz="1600" u="none" cap="none" strike="noStrike">
                <a:solidFill>
                  <a:srgbClr val="00B050"/>
                </a:solidFill>
              </a:rPr>
              <a:t> </a:t>
            </a:r>
            <a:endParaRPr/>
          </a:p>
          <a:p>
            <a:pPr indent="-330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i="0" lang="en" sz="1600" u="none" cap="none" strike="noStrike">
                <a:solidFill>
                  <a:schemeClr val="lt1"/>
                </a:solidFill>
              </a:rPr>
              <a:t>Categorized text based on emotion classes ( </a:t>
            </a:r>
            <a:r>
              <a:rPr i="0" lang="en" sz="1600" u="none" cap="none" strike="noStrike">
                <a:solidFill>
                  <a:srgbClr val="E5B8B7"/>
                </a:solidFill>
              </a:rPr>
              <a:t>Sadness, Joy, Love, Anger, Fear and Surprise</a:t>
            </a:r>
            <a:r>
              <a:rPr i="0" lang="en" sz="1600" u="none" cap="none" strike="noStrike">
                <a:solidFill>
                  <a:schemeClr val="lt1"/>
                </a:solidFill>
              </a:rPr>
              <a:t>)</a:t>
            </a:r>
            <a:endParaRPr/>
          </a:p>
          <a:p>
            <a:pPr indent="-330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nstantia"/>
              <a:buChar char="•"/>
            </a:pPr>
            <a:r>
              <a:rPr i="0" lang="en" sz="1600" u="none" cap="none" strike="noStrike">
                <a:solidFill>
                  <a:schemeClr val="lt1"/>
                </a:solidFill>
              </a:rPr>
              <a:t>Converted the </a:t>
            </a:r>
            <a:r>
              <a:rPr i="0" lang="en" sz="1600" u="none" cap="none" strike="noStrike">
                <a:solidFill>
                  <a:srgbClr val="FFFF00"/>
                </a:solidFill>
              </a:rPr>
              <a:t>finalized Excel dataset into </a:t>
            </a:r>
            <a:r>
              <a:rPr b="1" i="0" lang="en" sz="1600" u="none" cap="none" strike="noStrike">
                <a:solidFill>
                  <a:srgbClr val="FFFF00"/>
                </a:solidFill>
              </a:rPr>
              <a:t>CSV format</a:t>
            </a:r>
            <a:r>
              <a:rPr i="0" lang="en" sz="1600" u="none" cap="none" strike="noStrike">
                <a:solidFill>
                  <a:srgbClr val="FFFF00"/>
                </a:solidFill>
              </a:rPr>
              <a:t> </a:t>
            </a:r>
            <a:r>
              <a:rPr i="0" lang="en" sz="1600" u="none" cap="none" strike="noStrike">
                <a:solidFill>
                  <a:schemeClr val="lt1"/>
                </a:solidFill>
              </a:rPr>
              <a:t>for compatibility with machine learning models </a:t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-330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i="0" lang="en" sz="1600" u="none" cap="none" strike="noStrike">
                <a:solidFill>
                  <a:schemeClr val="lt1"/>
                </a:solidFill>
              </a:rPr>
              <a:t>Total Data =1390 texts</a:t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•"/>
            </a:pPr>
            <a:r>
              <a:rPr lang="en" sz="1600">
                <a:solidFill>
                  <a:schemeClr val="lt1"/>
                </a:solidFill>
              </a:rPr>
              <a:t>There are 256 data classified as Sadness, 248 as Joy, 243 as Love, 227 as Anger, 218 as Fear, and 200 as Surprise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18450"/>
            <a:ext cx="8839200" cy="403623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8"/>
          <p:cNvSpPr txBox="1"/>
          <p:nvPr/>
        </p:nvSpPr>
        <p:spPr>
          <a:xfrm>
            <a:off x="0" y="0"/>
            <a:ext cx="5855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Dataset Structure</a:t>
            </a:r>
            <a:endParaRPr sz="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9" name="Google Shape;249;p29"/>
          <p:cNvCxnSpPr/>
          <p:nvPr/>
        </p:nvCxnSpPr>
        <p:spPr>
          <a:xfrm rot="5400000">
            <a:off x="7330632" y="5270049"/>
            <a:ext cx="26028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0" name="Google Shape;250;p29"/>
          <p:cNvGrpSpPr/>
          <p:nvPr/>
        </p:nvGrpSpPr>
        <p:grpSpPr>
          <a:xfrm>
            <a:off x="8837359" y="-72329"/>
            <a:ext cx="1542830" cy="5808358"/>
            <a:chOff x="0" y="-38100"/>
            <a:chExt cx="812700" cy="3059607"/>
          </a:xfrm>
        </p:grpSpPr>
        <p:sp>
          <p:nvSpPr>
            <p:cNvPr id="251" name="Google Shape;251;p29"/>
            <p:cNvSpPr/>
            <p:nvPr/>
          </p:nvSpPr>
          <p:spPr>
            <a:xfrm>
              <a:off x="0" y="0"/>
              <a:ext cx="161523" cy="3021507"/>
            </a:xfrm>
            <a:custGeom>
              <a:rect b="b" l="l" r="r" t="t"/>
              <a:pathLst>
                <a:path extrusionOk="0" h="3021507" w="161523">
                  <a:moveTo>
                    <a:pt x="0" y="0"/>
                  </a:moveTo>
                  <a:lnTo>
                    <a:pt x="161523" y="0"/>
                  </a:lnTo>
                  <a:lnTo>
                    <a:pt x="161523" y="3021507"/>
                  </a:lnTo>
                  <a:lnTo>
                    <a:pt x="0" y="3021507"/>
                  </a:lnTo>
                  <a:close/>
                </a:path>
              </a:pathLst>
            </a:custGeom>
            <a:solidFill>
              <a:srgbClr val="000000">
                <a:alpha val="13330"/>
              </a:srgbClr>
            </a:solidFill>
            <a:ln>
              <a:noFill/>
            </a:ln>
          </p:spPr>
        </p:sp>
        <p:sp>
          <p:nvSpPr>
            <p:cNvPr id="252" name="Google Shape;252;p29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53" name="Google Shape;253;p29"/>
          <p:cNvPicPr preferRelativeResize="0"/>
          <p:nvPr/>
        </p:nvPicPr>
        <p:blipFill rotWithShape="1">
          <a:blip r:embed="rId3">
            <a:alphaModFix/>
          </a:blip>
          <a:srcRect b="5028" l="0" r="0" t="5019"/>
          <a:stretch/>
        </p:blipFill>
        <p:spPr>
          <a:xfrm>
            <a:off x="0" y="0"/>
            <a:ext cx="4516392" cy="609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9"/>
          <p:cNvSpPr txBox="1"/>
          <p:nvPr/>
        </p:nvSpPr>
        <p:spPr>
          <a:xfrm>
            <a:off x="623673" y="1379895"/>
            <a:ext cx="3684900" cy="25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Burmese Language Script Architecture</a:t>
            </a:r>
            <a:endParaRPr b="1" i="0" sz="3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5" name="Google Shape;255;p29"/>
          <p:cNvSpPr txBox="1"/>
          <p:nvPr/>
        </p:nvSpPr>
        <p:spPr>
          <a:xfrm>
            <a:off x="4932390" y="354792"/>
            <a:ext cx="3238500" cy="10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sz="1300" u="none" cap="none" strike="noStrike">
                <a:solidFill>
                  <a:srgbClr val="000000"/>
                </a:solidFill>
              </a:rPr>
              <a:t>It is a syllabic writing system (each character represents a syllable rather than a single letter)</a:t>
            </a:r>
            <a:endParaRPr i="0" sz="13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</a:endParaRPr>
          </a:p>
        </p:txBody>
      </p:sp>
      <p:sp>
        <p:nvSpPr>
          <p:cNvPr id="256" name="Google Shape;256;p29"/>
          <p:cNvSpPr txBox="1"/>
          <p:nvPr/>
        </p:nvSpPr>
        <p:spPr>
          <a:xfrm>
            <a:off x="4627605" y="354805"/>
            <a:ext cx="1370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300"/>
              <a:t>1.</a:t>
            </a:r>
            <a:endParaRPr sz="1300"/>
          </a:p>
        </p:txBody>
      </p:sp>
      <p:sp>
        <p:nvSpPr>
          <p:cNvPr id="257" name="Google Shape;257;p29"/>
          <p:cNvSpPr txBox="1"/>
          <p:nvPr/>
        </p:nvSpPr>
        <p:spPr>
          <a:xfrm>
            <a:off x="5016440" y="2862296"/>
            <a:ext cx="32385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sz="1200" u="none" cap="none" strike="noStrike">
                <a:solidFill>
                  <a:srgbClr val="000000"/>
                </a:solidFill>
              </a:rPr>
              <a:t>Text encoding is done using Unicode, which is essential for processing Burmese text in NLP models</a:t>
            </a:r>
            <a:endParaRPr i="0" sz="900" u="none" cap="none" strike="noStrike">
              <a:solidFill>
                <a:srgbClr val="000000"/>
              </a:solidFill>
            </a:endParaRPr>
          </a:p>
        </p:txBody>
      </p:sp>
      <p:sp>
        <p:nvSpPr>
          <p:cNvPr id="258" name="Google Shape;258;p29"/>
          <p:cNvSpPr txBox="1"/>
          <p:nvPr/>
        </p:nvSpPr>
        <p:spPr>
          <a:xfrm>
            <a:off x="4666409" y="2868071"/>
            <a:ext cx="1370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300"/>
              <a:t>3.</a:t>
            </a:r>
            <a:endParaRPr sz="1300"/>
          </a:p>
        </p:txBody>
      </p:sp>
      <p:sp>
        <p:nvSpPr>
          <p:cNvPr id="259" name="Google Shape;259;p29"/>
          <p:cNvSpPr txBox="1"/>
          <p:nvPr/>
        </p:nvSpPr>
        <p:spPr>
          <a:xfrm>
            <a:off x="5036379" y="1293350"/>
            <a:ext cx="35205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sz="1200" u="none" cap="none" strike="noStrike">
                <a:solidFill>
                  <a:srgbClr val="000000"/>
                </a:solidFill>
              </a:rPr>
              <a:t> Each syllable is typically composed of:</a:t>
            </a:r>
            <a:endParaRPr i="0" sz="1200" u="none" cap="none" strike="noStrike">
              <a:solidFill>
                <a:srgbClr val="000000"/>
              </a:solidFill>
            </a:endParaRPr>
          </a:p>
          <a:p>
            <a:pPr indent="-3048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i="0" lang="en" sz="1200" u="none" cap="none" strike="noStrike">
                <a:solidFill>
                  <a:srgbClr val="000000"/>
                </a:solidFill>
              </a:rPr>
              <a:t>Consonant base (main character)</a:t>
            </a:r>
            <a:endParaRPr sz="1600"/>
          </a:p>
          <a:p>
            <a:pPr indent="-3048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i="0" lang="en" sz="1200" u="none" cap="none" strike="noStrike">
                <a:solidFill>
                  <a:srgbClr val="000000"/>
                </a:solidFill>
              </a:rPr>
              <a:t>Vowel signs (placed around the consonant)</a:t>
            </a:r>
            <a:endParaRPr sz="1600"/>
          </a:p>
          <a:p>
            <a:pPr indent="-3048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i="0" lang="en" sz="1200" u="none" cap="none" strike="noStrike">
                <a:solidFill>
                  <a:srgbClr val="000000"/>
                </a:solidFill>
              </a:rPr>
              <a:t>Medials (modify consonant sounds)</a:t>
            </a:r>
            <a:endParaRPr sz="1600"/>
          </a:p>
          <a:p>
            <a:pPr indent="-3048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i="0" lang="en" sz="1200" u="none" cap="none" strike="noStrike">
                <a:solidFill>
                  <a:srgbClr val="000000"/>
                </a:solidFill>
              </a:rPr>
              <a:t>Tone markers (indicate pitch and meaning)</a:t>
            </a:r>
            <a:endParaRPr i="0" sz="900" u="none" cap="none" strike="noStrike">
              <a:solidFill>
                <a:srgbClr val="000000"/>
              </a:solidFill>
            </a:endParaRPr>
          </a:p>
        </p:txBody>
      </p:sp>
      <p:sp>
        <p:nvSpPr>
          <p:cNvPr id="260" name="Google Shape;260;p29"/>
          <p:cNvSpPr txBox="1"/>
          <p:nvPr/>
        </p:nvSpPr>
        <p:spPr>
          <a:xfrm>
            <a:off x="4666399" y="1293360"/>
            <a:ext cx="1074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sz="1300" u="none" cap="none" strike="noStrike">
                <a:solidFill>
                  <a:srgbClr val="000000"/>
                </a:solidFill>
              </a:rPr>
              <a:t>2.</a:t>
            </a:r>
            <a:endParaRPr i="0" sz="1300" u="none" cap="none" strike="noStrike">
              <a:solidFill>
                <a:srgbClr val="000000"/>
              </a:solidFill>
            </a:endParaRPr>
          </a:p>
        </p:txBody>
      </p:sp>
      <p:sp>
        <p:nvSpPr>
          <p:cNvPr id="261" name="Google Shape;261;p29"/>
          <p:cNvSpPr txBox="1"/>
          <p:nvPr/>
        </p:nvSpPr>
        <p:spPr>
          <a:xfrm rot="5400000">
            <a:off x="8633564" y="2517954"/>
            <a:ext cx="766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9"/>
          <p:cNvSpPr txBox="1"/>
          <p:nvPr/>
        </p:nvSpPr>
        <p:spPr>
          <a:xfrm>
            <a:off x="4932391" y="3818002"/>
            <a:ext cx="36246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300" u="none" cap="none" strike="noStrike">
                <a:solidFill>
                  <a:srgbClr val="000000"/>
                </a:solidFill>
              </a:rPr>
              <a:t>Words are usually not separated by spaces, making tokenization more challenging in text processing </a:t>
            </a:r>
            <a:endParaRPr sz="1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9"/>
          <p:cNvSpPr txBox="1"/>
          <p:nvPr/>
        </p:nvSpPr>
        <p:spPr>
          <a:xfrm>
            <a:off x="4666391" y="3818002"/>
            <a:ext cx="1370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sz="1300" u="none" cap="none" strike="noStrike">
                <a:solidFill>
                  <a:srgbClr val="000000"/>
                </a:solidFill>
              </a:rPr>
              <a:t>4.</a:t>
            </a:r>
            <a:endParaRPr i="0" sz="13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8" name="Google Shape;268;p30"/>
          <p:cNvCxnSpPr/>
          <p:nvPr/>
        </p:nvCxnSpPr>
        <p:spPr>
          <a:xfrm rot="5400000">
            <a:off x="7330632" y="5270049"/>
            <a:ext cx="26028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69" name="Google Shape;269;p30"/>
          <p:cNvGrpSpPr/>
          <p:nvPr/>
        </p:nvGrpSpPr>
        <p:grpSpPr>
          <a:xfrm>
            <a:off x="8837359" y="-72329"/>
            <a:ext cx="1542830" cy="5808358"/>
            <a:chOff x="0" y="-38100"/>
            <a:chExt cx="812700" cy="3059607"/>
          </a:xfrm>
        </p:grpSpPr>
        <p:sp>
          <p:nvSpPr>
            <p:cNvPr id="270" name="Google Shape;270;p30"/>
            <p:cNvSpPr/>
            <p:nvPr/>
          </p:nvSpPr>
          <p:spPr>
            <a:xfrm>
              <a:off x="0" y="0"/>
              <a:ext cx="161523" cy="3021507"/>
            </a:xfrm>
            <a:custGeom>
              <a:rect b="b" l="l" r="r" t="t"/>
              <a:pathLst>
                <a:path extrusionOk="0" h="3021507" w="161523">
                  <a:moveTo>
                    <a:pt x="0" y="0"/>
                  </a:moveTo>
                  <a:lnTo>
                    <a:pt x="161523" y="0"/>
                  </a:lnTo>
                  <a:lnTo>
                    <a:pt x="161523" y="3021507"/>
                  </a:lnTo>
                  <a:lnTo>
                    <a:pt x="0" y="3021507"/>
                  </a:lnTo>
                  <a:close/>
                </a:path>
              </a:pathLst>
            </a:custGeom>
            <a:solidFill>
              <a:srgbClr val="FFFFFF">
                <a:alpha val="13330"/>
              </a:srgbClr>
            </a:solidFill>
            <a:ln>
              <a:noFill/>
            </a:ln>
          </p:spPr>
        </p:sp>
        <p:sp>
          <p:nvSpPr>
            <p:cNvPr id="271" name="Google Shape;271;p30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" name="Google Shape;272;p30"/>
          <p:cNvSpPr txBox="1"/>
          <p:nvPr/>
        </p:nvSpPr>
        <p:spPr>
          <a:xfrm>
            <a:off x="168903" y="67850"/>
            <a:ext cx="580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Model Training Processes </a:t>
            </a:r>
            <a:endParaRPr b="1" i="0" sz="2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73" name="Google Shape;273;p30"/>
          <p:cNvGrpSpPr/>
          <p:nvPr/>
        </p:nvGrpSpPr>
        <p:grpSpPr>
          <a:xfrm>
            <a:off x="366671" y="864166"/>
            <a:ext cx="3433313" cy="627993"/>
            <a:chOff x="-270933" y="410500"/>
            <a:chExt cx="9155502" cy="1674648"/>
          </a:xfrm>
        </p:grpSpPr>
        <p:sp>
          <p:nvSpPr>
            <p:cNvPr id="274" name="Google Shape;274;p30"/>
            <p:cNvSpPr txBox="1"/>
            <p:nvPr/>
          </p:nvSpPr>
          <p:spPr>
            <a:xfrm>
              <a:off x="248469" y="903148"/>
              <a:ext cx="8636100" cy="118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i="0" lang="en" sz="1200" u="none" cap="none" strike="noStrike">
                  <a:solidFill>
                    <a:srgbClr val="FFFFFF"/>
                  </a:solidFill>
                </a:rPr>
                <a:t>Split the dataset into  Training  and Testing .</a:t>
              </a:r>
              <a:endParaRPr i="0" sz="900" u="none" cap="none" strike="noStrike">
                <a:solidFill>
                  <a:srgbClr val="000000"/>
                </a:solidFill>
              </a:endParaRPr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i="0" lang="en" sz="1200" u="none" cap="none" strike="noStrike">
                  <a:solidFill>
                    <a:srgbClr val="FFFFFF"/>
                  </a:solidFill>
                </a:rPr>
                <a:t>Training data is 80% and testing data is 20%.</a:t>
              </a:r>
              <a:endParaRPr i="0" sz="1200" u="none" cap="none" strike="noStrike">
                <a:solidFill>
                  <a:srgbClr val="FFFFFF"/>
                </a:solidFill>
              </a:endParaRPr>
            </a:p>
          </p:txBody>
        </p:sp>
        <p:sp>
          <p:nvSpPr>
            <p:cNvPr id="275" name="Google Shape;275;p30"/>
            <p:cNvSpPr txBox="1"/>
            <p:nvPr/>
          </p:nvSpPr>
          <p:spPr>
            <a:xfrm>
              <a:off x="-270933" y="410500"/>
              <a:ext cx="3654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i="0" lang="en" sz="1200" u="none" cap="none" strike="noStrike">
                  <a:solidFill>
                    <a:srgbClr val="FFFFFF"/>
                  </a:solidFill>
                </a:rPr>
                <a:t>1.</a:t>
              </a:r>
              <a:endParaRPr i="0" sz="900" u="none" cap="none" strike="noStrike">
                <a:solidFill>
                  <a:srgbClr val="000000"/>
                </a:solidFill>
              </a:endParaRPr>
            </a:p>
          </p:txBody>
        </p:sp>
      </p:grpSp>
      <p:grpSp>
        <p:nvGrpSpPr>
          <p:cNvPr id="276" name="Google Shape;276;p30"/>
          <p:cNvGrpSpPr/>
          <p:nvPr/>
        </p:nvGrpSpPr>
        <p:grpSpPr>
          <a:xfrm>
            <a:off x="5219857" y="704153"/>
            <a:ext cx="3238538" cy="716129"/>
            <a:chOff x="0" y="-38100"/>
            <a:chExt cx="8636100" cy="1909677"/>
          </a:xfrm>
        </p:grpSpPr>
        <p:sp>
          <p:nvSpPr>
            <p:cNvPr id="277" name="Google Shape;277;p30"/>
            <p:cNvSpPr txBox="1"/>
            <p:nvPr/>
          </p:nvSpPr>
          <p:spPr>
            <a:xfrm>
              <a:off x="0" y="812577"/>
              <a:ext cx="8636100" cy="10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i="0" lang="en" sz="1200" u="none" cap="none" strike="noStrike">
                  <a:solidFill>
                    <a:srgbClr val="FFFFFF"/>
                  </a:solidFill>
                </a:rPr>
                <a:t>Install &amp; </a:t>
              </a:r>
              <a:r>
                <a:rPr lang="en" sz="1200">
                  <a:solidFill>
                    <a:srgbClr val="FFFFFF"/>
                  </a:solidFill>
                </a:rPr>
                <a:t>Import </a:t>
              </a:r>
              <a:r>
                <a:rPr i="0" lang="en" sz="1200" u="none" cap="none" strike="noStrike">
                  <a:solidFill>
                    <a:srgbClr val="FFFFFF"/>
                  </a:solidFill>
                </a:rPr>
                <a:t>necessary Libraries </a:t>
              </a:r>
              <a:endParaRPr sz="1600"/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i="0" sz="900" u="none" cap="none" strike="noStrike">
                <a:solidFill>
                  <a:srgbClr val="000000"/>
                </a:solidFill>
              </a:endParaRPr>
            </a:p>
          </p:txBody>
        </p:sp>
        <p:sp>
          <p:nvSpPr>
            <p:cNvPr id="278" name="Google Shape;278;p30"/>
            <p:cNvSpPr txBox="1"/>
            <p:nvPr/>
          </p:nvSpPr>
          <p:spPr>
            <a:xfrm>
              <a:off x="0" y="-38100"/>
              <a:ext cx="3397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i="0" lang="en" sz="1200" u="none" cap="none" strike="noStrike">
                  <a:solidFill>
                    <a:srgbClr val="FFFFFF"/>
                  </a:solidFill>
                </a:rPr>
                <a:t>2.</a:t>
              </a:r>
              <a:endParaRPr i="0" sz="900" u="none" cap="none" strike="noStrike">
                <a:solidFill>
                  <a:srgbClr val="000000"/>
                </a:solidFill>
              </a:endParaRPr>
            </a:p>
          </p:txBody>
        </p:sp>
      </p:grpSp>
      <p:sp>
        <p:nvSpPr>
          <p:cNvPr id="279" name="Google Shape;279;p30"/>
          <p:cNvSpPr txBox="1"/>
          <p:nvPr/>
        </p:nvSpPr>
        <p:spPr>
          <a:xfrm rot="5400000">
            <a:off x="8633564" y="2517954"/>
            <a:ext cx="766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0" name="Google Shape;28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903" y="1826774"/>
            <a:ext cx="4272869" cy="197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3348" y="1479796"/>
            <a:ext cx="3950524" cy="1977306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0"/>
          <p:cNvSpPr/>
          <p:nvPr/>
        </p:nvSpPr>
        <p:spPr>
          <a:xfrm>
            <a:off x="5219857" y="3893444"/>
            <a:ext cx="2950800" cy="546000"/>
          </a:xfrm>
          <a:prstGeom prst="rect">
            <a:avLst/>
          </a:prstGeom>
          <a:gradFill>
            <a:gsLst>
              <a:gs pos="0">
                <a:srgbClr val="7F5AAB"/>
              </a:gs>
              <a:gs pos="100000">
                <a:srgbClr val="C7AEED"/>
              </a:gs>
            </a:gsLst>
            <a:lin ang="16200038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C00000"/>
                </a:solidFill>
              </a:rPr>
              <a:t>*Important*</a:t>
            </a:r>
            <a:endParaRPr b="1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</a:rPr>
              <a:t>!</a:t>
            </a:r>
            <a:r>
              <a:rPr b="1" i="0" lang="en" sz="1200" u="none" cap="none" strike="noStrike">
                <a:solidFill>
                  <a:schemeClr val="lt1"/>
                </a:solidFill>
              </a:rPr>
              <a:t>pip install pyidaungsu openpyxlc</a:t>
            </a:r>
            <a:endParaRPr b="1" i="0" sz="1200" u="none" cap="none" strike="noStrike">
              <a:solidFill>
                <a:schemeClr val="lt1"/>
              </a:solidFill>
            </a:endParaRPr>
          </a:p>
        </p:txBody>
      </p:sp>
      <p:pic>
        <p:nvPicPr>
          <p:cNvPr id="283" name="Google Shape;283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1141544">
            <a:off x="7929692" y="3534769"/>
            <a:ext cx="415244" cy="41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41975"/>
            <a:ext cx="4747651" cy="3546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2626" y="2742525"/>
            <a:ext cx="4091549" cy="2346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67551" y="568827"/>
            <a:ext cx="4091549" cy="2055978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1"/>
          <p:cNvSpPr/>
          <p:nvPr/>
        </p:nvSpPr>
        <p:spPr>
          <a:xfrm>
            <a:off x="249776" y="231277"/>
            <a:ext cx="4322100" cy="1054500"/>
          </a:xfrm>
          <a:prstGeom prst="rect">
            <a:avLst/>
          </a:prstGeom>
          <a:gradFill>
            <a:gsLst>
              <a:gs pos="0">
                <a:srgbClr val="7F5AAB"/>
              </a:gs>
              <a:gs pos="100000">
                <a:srgbClr val="C7AEED"/>
              </a:gs>
            </a:gsLst>
            <a:lin ang="16200038" scaled="0"/>
          </a:gra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r>
              <a:rPr b="1" lang="en" sz="2300">
                <a:solidFill>
                  <a:schemeClr val="dk1"/>
                </a:solidFill>
              </a:rPr>
              <a:t> Blocks</a:t>
            </a:r>
            <a:endParaRPr b="1" sz="23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training process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6" name="Google Shape;296;p32"/>
          <p:cNvCxnSpPr/>
          <p:nvPr/>
        </p:nvCxnSpPr>
        <p:spPr>
          <a:xfrm rot="5400000">
            <a:off x="6769459" y="3175094"/>
            <a:ext cx="41358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" name="Google Shape;297;p32"/>
          <p:cNvCxnSpPr/>
          <p:nvPr/>
        </p:nvCxnSpPr>
        <p:spPr>
          <a:xfrm rot="5400000">
            <a:off x="2952796" y="3656240"/>
            <a:ext cx="2812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98" name="Google Shape;298;p32"/>
          <p:cNvGrpSpPr/>
          <p:nvPr/>
        </p:nvGrpSpPr>
        <p:grpSpPr>
          <a:xfrm>
            <a:off x="8837359" y="-72329"/>
            <a:ext cx="1542830" cy="5808358"/>
            <a:chOff x="0" y="-38100"/>
            <a:chExt cx="812700" cy="3059607"/>
          </a:xfrm>
        </p:grpSpPr>
        <p:sp>
          <p:nvSpPr>
            <p:cNvPr id="299" name="Google Shape;299;p32"/>
            <p:cNvSpPr/>
            <p:nvPr/>
          </p:nvSpPr>
          <p:spPr>
            <a:xfrm>
              <a:off x="0" y="0"/>
              <a:ext cx="161523" cy="3021507"/>
            </a:xfrm>
            <a:custGeom>
              <a:rect b="b" l="l" r="r" t="t"/>
              <a:pathLst>
                <a:path extrusionOk="0" h="3021507" w="161523">
                  <a:moveTo>
                    <a:pt x="0" y="0"/>
                  </a:moveTo>
                  <a:lnTo>
                    <a:pt x="161523" y="0"/>
                  </a:lnTo>
                  <a:lnTo>
                    <a:pt x="161523" y="3021507"/>
                  </a:lnTo>
                  <a:lnTo>
                    <a:pt x="0" y="3021507"/>
                  </a:lnTo>
                  <a:close/>
                </a:path>
              </a:pathLst>
            </a:custGeom>
            <a:solidFill>
              <a:srgbClr val="000000">
                <a:alpha val="13330"/>
              </a:srgbClr>
            </a:solidFill>
            <a:ln>
              <a:noFill/>
            </a:ln>
          </p:spPr>
        </p:sp>
        <p:sp>
          <p:nvSpPr>
            <p:cNvPr id="300" name="Google Shape;300;p32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1" name="Google Shape;301;p32"/>
          <p:cNvSpPr txBox="1"/>
          <p:nvPr/>
        </p:nvSpPr>
        <p:spPr>
          <a:xfrm rot="5400000">
            <a:off x="8633564" y="2517954"/>
            <a:ext cx="766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2" name="Google Shape;30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15" y="81053"/>
            <a:ext cx="5676558" cy="1366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700" y="2479888"/>
            <a:ext cx="2367917" cy="776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24419" y="1477608"/>
            <a:ext cx="5612939" cy="3665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0086" y="3366193"/>
            <a:ext cx="2505080" cy="1696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115" y="1526837"/>
            <a:ext cx="3029031" cy="933074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2"/>
          <p:cNvSpPr/>
          <p:nvPr/>
        </p:nvSpPr>
        <p:spPr>
          <a:xfrm>
            <a:off x="5791073" y="297095"/>
            <a:ext cx="2654400" cy="776400"/>
          </a:xfrm>
          <a:prstGeom prst="rect">
            <a:avLst/>
          </a:prstGeom>
          <a:gradFill>
            <a:gsLst>
              <a:gs pos="0">
                <a:srgbClr val="7F5AAB"/>
              </a:gs>
              <a:gs pos="100000">
                <a:srgbClr val="C7AEED"/>
              </a:gs>
            </a:gsLst>
            <a:lin ang="16200038" scaled="0"/>
          </a:gra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r>
              <a:rPr b="1" lang="en" sz="1800">
                <a:solidFill>
                  <a:schemeClr val="dk1"/>
                </a:solidFill>
              </a:rPr>
              <a:t> Blocks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training process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08" name="Google Shape;308;p32"/>
          <p:cNvSpPr/>
          <p:nvPr/>
        </p:nvSpPr>
        <p:spPr>
          <a:xfrm flipH="1" rot="10800000">
            <a:off x="1845" y="3025800"/>
            <a:ext cx="609600" cy="2117700"/>
          </a:xfrm>
          <a:prstGeom prst="halfFrame">
            <a:avLst>
              <a:gd fmla="val 33333" name="adj1"/>
              <a:gd fmla="val 33333" name="adj2"/>
            </a:avLst>
          </a:prstGeom>
          <a:solidFill>
            <a:srgbClr val="595959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2"/>
          <p:cNvSpPr/>
          <p:nvPr/>
        </p:nvSpPr>
        <p:spPr>
          <a:xfrm flipH="1">
            <a:off x="6689398" y="9447"/>
            <a:ext cx="2442600" cy="763500"/>
          </a:xfrm>
          <a:prstGeom prst="halfFrame">
            <a:avLst>
              <a:gd fmla="val 33333" name="adj1"/>
              <a:gd fmla="val 33333" name="adj2"/>
            </a:avLst>
          </a:prstGeom>
          <a:solidFill>
            <a:srgbClr val="595959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0" name="Google Shape;310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22718" y="4646446"/>
            <a:ext cx="416000" cy="41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3"/>
          <p:cNvSpPr txBox="1"/>
          <p:nvPr/>
        </p:nvSpPr>
        <p:spPr>
          <a:xfrm>
            <a:off x="110582" y="157994"/>
            <a:ext cx="400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Testing </a:t>
            </a:r>
            <a:r>
              <a:rPr b="1" i="0" lang="en" sz="2400" u="none" cap="none" strike="noStrike">
                <a:solidFill>
                  <a:srgbClr val="000000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Results</a:t>
            </a:r>
            <a:endParaRPr b="1" i="0" sz="2400" u="none" cap="none" strike="noStrike">
              <a:solidFill>
                <a:srgbClr val="000000"/>
              </a:solidFill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cxnSp>
        <p:nvCxnSpPr>
          <p:cNvPr id="316" name="Google Shape;316;p33"/>
          <p:cNvCxnSpPr/>
          <p:nvPr/>
        </p:nvCxnSpPr>
        <p:spPr>
          <a:xfrm rot="5400000">
            <a:off x="7221169" y="113450"/>
            <a:ext cx="2812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17" name="Google Shape;317;p33"/>
          <p:cNvGrpSpPr/>
          <p:nvPr/>
        </p:nvGrpSpPr>
        <p:grpSpPr>
          <a:xfrm>
            <a:off x="8837359" y="-72329"/>
            <a:ext cx="1542830" cy="5808358"/>
            <a:chOff x="0" y="-38100"/>
            <a:chExt cx="812700" cy="3059607"/>
          </a:xfrm>
        </p:grpSpPr>
        <p:sp>
          <p:nvSpPr>
            <p:cNvPr id="318" name="Google Shape;318;p33"/>
            <p:cNvSpPr/>
            <p:nvPr/>
          </p:nvSpPr>
          <p:spPr>
            <a:xfrm>
              <a:off x="0" y="0"/>
              <a:ext cx="161523" cy="3021507"/>
            </a:xfrm>
            <a:custGeom>
              <a:rect b="b" l="l" r="r" t="t"/>
              <a:pathLst>
                <a:path extrusionOk="0" h="3021507" w="161523">
                  <a:moveTo>
                    <a:pt x="0" y="0"/>
                  </a:moveTo>
                  <a:lnTo>
                    <a:pt x="161523" y="0"/>
                  </a:lnTo>
                  <a:lnTo>
                    <a:pt x="161523" y="3021507"/>
                  </a:lnTo>
                  <a:lnTo>
                    <a:pt x="0" y="3021507"/>
                  </a:lnTo>
                  <a:close/>
                </a:path>
              </a:pathLst>
            </a:custGeom>
            <a:solidFill>
              <a:srgbClr val="000000">
                <a:alpha val="13330"/>
              </a:srgbClr>
            </a:solidFill>
            <a:ln>
              <a:noFill/>
            </a:ln>
          </p:spPr>
        </p:sp>
        <p:sp>
          <p:nvSpPr>
            <p:cNvPr id="319" name="Google Shape;319;p33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20" name="Google Shape;320;p33"/>
          <p:cNvPicPr preferRelativeResize="0"/>
          <p:nvPr/>
        </p:nvPicPr>
        <p:blipFill rotWithShape="1">
          <a:blip r:embed="rId3">
            <a:alphaModFix/>
          </a:blip>
          <a:srcRect b="0" l="0" r="39482" t="941"/>
          <a:stretch/>
        </p:blipFill>
        <p:spPr>
          <a:xfrm>
            <a:off x="557075" y="814024"/>
            <a:ext cx="3321749" cy="3515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3"/>
          <p:cNvPicPr preferRelativeResize="0"/>
          <p:nvPr/>
        </p:nvPicPr>
        <p:blipFill rotWithShape="1">
          <a:blip r:embed="rId4">
            <a:alphaModFix/>
          </a:blip>
          <a:srcRect b="0" l="0" r="19517" t="0"/>
          <a:stretch/>
        </p:blipFill>
        <p:spPr>
          <a:xfrm>
            <a:off x="4637325" y="814025"/>
            <a:ext cx="3109900" cy="346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2602722" y="140499"/>
            <a:ext cx="304595" cy="371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4"/>
          <p:cNvSpPr txBox="1"/>
          <p:nvPr/>
        </p:nvSpPr>
        <p:spPr>
          <a:xfrm>
            <a:off x="114069" y="110782"/>
            <a:ext cx="400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Testing </a:t>
            </a:r>
            <a:r>
              <a:rPr b="1" i="0" lang="en" sz="2400" u="none" cap="none" strike="noStrike">
                <a:solidFill>
                  <a:srgbClr val="000000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Results</a:t>
            </a:r>
            <a:endParaRPr b="0" i="0" sz="2400" u="none" cap="none" strike="noStrike">
              <a:solidFill>
                <a:srgbClr val="000000"/>
              </a:solidFill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cxnSp>
        <p:nvCxnSpPr>
          <p:cNvPr id="328" name="Google Shape;328;p34"/>
          <p:cNvCxnSpPr/>
          <p:nvPr/>
        </p:nvCxnSpPr>
        <p:spPr>
          <a:xfrm rot="5400000">
            <a:off x="7221169" y="113450"/>
            <a:ext cx="2812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29" name="Google Shape;329;p34"/>
          <p:cNvGrpSpPr/>
          <p:nvPr/>
        </p:nvGrpSpPr>
        <p:grpSpPr>
          <a:xfrm>
            <a:off x="8837359" y="-72329"/>
            <a:ext cx="1542830" cy="5808358"/>
            <a:chOff x="0" y="-38100"/>
            <a:chExt cx="812700" cy="3059607"/>
          </a:xfrm>
        </p:grpSpPr>
        <p:sp>
          <p:nvSpPr>
            <p:cNvPr id="330" name="Google Shape;330;p34"/>
            <p:cNvSpPr/>
            <p:nvPr/>
          </p:nvSpPr>
          <p:spPr>
            <a:xfrm>
              <a:off x="0" y="0"/>
              <a:ext cx="161523" cy="3021507"/>
            </a:xfrm>
            <a:custGeom>
              <a:rect b="b" l="l" r="r" t="t"/>
              <a:pathLst>
                <a:path extrusionOk="0" h="3021507" w="161523">
                  <a:moveTo>
                    <a:pt x="0" y="0"/>
                  </a:moveTo>
                  <a:lnTo>
                    <a:pt x="161523" y="0"/>
                  </a:lnTo>
                  <a:lnTo>
                    <a:pt x="161523" y="3021507"/>
                  </a:lnTo>
                  <a:lnTo>
                    <a:pt x="0" y="3021507"/>
                  </a:lnTo>
                  <a:close/>
                </a:path>
              </a:pathLst>
            </a:custGeom>
            <a:solidFill>
              <a:srgbClr val="000000">
                <a:alpha val="13330"/>
              </a:srgbClr>
            </a:solidFill>
            <a:ln>
              <a:noFill/>
            </a:ln>
          </p:spPr>
        </p:sp>
        <p:sp>
          <p:nvSpPr>
            <p:cNvPr id="331" name="Google Shape;331;p34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2" name="Google Shape;332;p34"/>
          <p:cNvSpPr txBox="1"/>
          <p:nvPr/>
        </p:nvSpPr>
        <p:spPr>
          <a:xfrm rot="5400000">
            <a:off x="8633564" y="2517954"/>
            <a:ext cx="766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3" name="Google Shape;33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2602722" y="140499"/>
            <a:ext cx="304595" cy="37168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4"/>
          <p:cNvSpPr txBox="1"/>
          <p:nvPr/>
        </p:nvSpPr>
        <p:spPr>
          <a:xfrm>
            <a:off x="3878825" y="4103150"/>
            <a:ext cx="4668900" cy="8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As you may see in the testing results slides, we’ve captured the transition from raw training data to a live, empathetic conversation in Burmese.  </a:t>
            </a:r>
            <a:r>
              <a:rPr b="1" lang="en" sz="15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1" sz="15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4"/>
          <p:cNvSpPr txBox="1"/>
          <p:nvPr/>
        </p:nvSpPr>
        <p:spPr>
          <a:xfrm>
            <a:off x="372050" y="4010600"/>
            <a:ext cx="32172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Key Metrics: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Peak Accuracy:</a:t>
            </a:r>
            <a:r>
              <a:rPr lang="en" sz="1100">
                <a:solidFill>
                  <a:schemeClr val="dk1"/>
                </a:solidFill>
              </a:rPr>
              <a:t> 74.5%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Top Confidence:</a:t>
            </a:r>
            <a:r>
              <a:rPr lang="en" sz="1100">
                <a:solidFill>
                  <a:schemeClr val="dk1"/>
                </a:solidFill>
              </a:rPr>
              <a:t> 99.9% (Fear/Surprise)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Processing Time:</a:t>
            </a:r>
            <a:r>
              <a:rPr lang="en" sz="1100">
                <a:solidFill>
                  <a:schemeClr val="dk1"/>
                </a:solidFill>
              </a:rPr>
              <a:t> &lt; 1s (if applicable)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336" name="Google Shape;33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225" y="715525"/>
            <a:ext cx="3618575" cy="3349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4"/>
          <p:cNvPicPr preferRelativeResize="0"/>
          <p:nvPr/>
        </p:nvPicPr>
        <p:blipFill rotWithShape="1">
          <a:blip r:embed="rId5">
            <a:alphaModFix/>
          </a:blip>
          <a:srcRect b="8983" l="39835" r="11539" t="22231"/>
          <a:stretch/>
        </p:blipFill>
        <p:spPr>
          <a:xfrm>
            <a:off x="4800514" y="527301"/>
            <a:ext cx="2951037" cy="353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5"/>
          <p:cNvSpPr txBox="1"/>
          <p:nvPr>
            <p:ph type="title"/>
          </p:nvPr>
        </p:nvSpPr>
        <p:spPr>
          <a:xfrm>
            <a:off x="878825" y="277875"/>
            <a:ext cx="7318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Performance</a:t>
            </a:r>
            <a:r>
              <a:rPr b="1" lang="en"/>
              <a:t> Metrics</a:t>
            </a:r>
            <a:endParaRPr b="1"/>
          </a:p>
        </p:txBody>
      </p:sp>
      <p:pic>
        <p:nvPicPr>
          <p:cNvPr id="343" name="Google Shape;34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175" y="1191975"/>
            <a:ext cx="4215073" cy="3530849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5"/>
          <p:cNvSpPr txBox="1"/>
          <p:nvPr/>
        </p:nvSpPr>
        <p:spPr>
          <a:xfrm>
            <a:off x="4671700" y="1369125"/>
            <a:ext cx="4431000" cy="22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=== MODEL PERFORMANCE ON UNSEEN TEST DATA ===</a:t>
            </a:r>
            <a:endParaRPr sz="1050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precision    recall  f1-score   support</a:t>
            </a:r>
            <a:endParaRPr sz="1050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  Sadness       0.71      0.69      0.70        32</a:t>
            </a:r>
            <a:endParaRPr sz="1050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      Joy       0.50      0.61      0.55        18</a:t>
            </a:r>
            <a:endParaRPr sz="1050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     Love       0.63      0.67      0.65        18</a:t>
            </a:r>
            <a:endParaRPr sz="1050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    Anger       0.79      0.68      0.73        28</a:t>
            </a:r>
            <a:endParaRPr sz="1050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     Fear       0.75      0.70      0.72        30</a:t>
            </a:r>
            <a:endParaRPr sz="1050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 Surprise       0.47      0.54      0.50        13</a:t>
            </a:r>
            <a:endParaRPr sz="1050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 accuracy                           0.66       139</a:t>
            </a:r>
            <a:endParaRPr sz="1050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macro avg       0.64      0.65      0.64       139</a:t>
            </a:r>
            <a:endParaRPr sz="1050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weighted avg       0.67      0.66      0.67       139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6"/>
          <p:cNvSpPr txBox="1"/>
          <p:nvPr>
            <p:ph type="title"/>
          </p:nvPr>
        </p:nvSpPr>
        <p:spPr>
          <a:xfrm>
            <a:off x="1054600" y="393750"/>
            <a:ext cx="7281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Performance</a:t>
            </a:r>
            <a:r>
              <a:rPr b="1" lang="en"/>
              <a:t> Metrics</a:t>
            </a:r>
            <a:endParaRPr b="1"/>
          </a:p>
        </p:txBody>
      </p:sp>
      <p:pic>
        <p:nvPicPr>
          <p:cNvPr id="350" name="Google Shape;35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600" y="1567550"/>
            <a:ext cx="4851993" cy="29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9600" y="1890099"/>
            <a:ext cx="3954425" cy="188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Findings &amp; Factor to be Considered</a:t>
            </a:r>
            <a:endParaRPr b="1"/>
          </a:p>
        </p:txBody>
      </p:sp>
      <p:sp>
        <p:nvSpPr>
          <p:cNvPr id="357" name="Google Shape;357;p37"/>
          <p:cNvSpPr txBox="1"/>
          <p:nvPr>
            <p:ph idx="1" type="body"/>
          </p:nvPr>
        </p:nvSpPr>
        <p:spPr>
          <a:xfrm>
            <a:off x="619800" y="1567550"/>
            <a:ext cx="7992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ဘာကြောင့် ကို Tokenization သုံးတာလဲ ဆိုရင် မြန်မာစာဟာ English လို space မခြားတဲ့အတွက် split() ကို သုံးရင် တစ်ကြောင်းလုံးကို စကားလုံးတစ်လုံးတည်းအနေနဲ့ model က မှတ်သွားတတ်ပါတယ်။ pyidaungsu ကို သုံးလိုက်ခြင်းအားဖြင့် - "ကျွန်တော်စိတ်ညစ်တယ်" ကို ["ကျွန်တော်", "စိတ်ညစ်", "တယ်"] ဆိုပြီး ခွဲခြားနိုင်သွားပါတယ်။ ဒါမှသာ Model က "စိတ်ညစ်" ဆိုတဲ့ စကားလုံးကိုတွေ့ရင် Sadness (ဝမ်းနည်းခြင်း) လို့ ပိုမိုတိကျစွာ ခန့်မှန်းနိုင်မှာဖြစ်ပါတယ်။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Pyidaungsu Font Installation က လဲ အရေးပါတဲ့ အချက်တခုဖြစ်ပါတယ်။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Data တွေကို ပြန်လည်စုစည်းပြီး ရှင်းလင်းတဲ့ အဆင့်မှာ သေချာဂရုစိုက်ပြီး လုပ်ဆောင်ထားမှ ရလဒ် တွေကပိုမိုကောင်းမွန်တောတွေ့ရပါတယ်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Epoch ကို ၃၀-၅၀ အထိ ပြောင်းလဲပြီးစမ်းကြည့်တာမှာ ပုံမှန်ထက်ပိုမိုကောင်းမွန်တဲ့ Loss &amp; Validation Accuracy ကိုမတွေ့ရပါဘူး။ အကောင်းဆုံး အခြေအနေက Epoch 13-15 လောက်မှာပဲ​ရှိတာကို တွေ့ရှိရပါတယ်။ </a:t>
            </a:r>
            <a:br>
              <a:rPr lang="en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Challenges &amp; Limitations</a:t>
            </a:r>
            <a:endParaRPr b="1"/>
          </a:p>
        </p:txBody>
      </p:sp>
      <p:sp>
        <p:nvSpPr>
          <p:cNvPr id="363" name="Google Shape;363;p38"/>
          <p:cNvSpPr txBox="1"/>
          <p:nvPr>
            <p:ph idx="1" type="body"/>
          </p:nvPr>
        </p:nvSpPr>
        <p:spPr>
          <a:xfrm>
            <a:off x="1297500" y="123452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Our group built a complete, validated pipeline combining rule-based architecture.</a:t>
            </a:r>
            <a:endParaRPr sz="1400"/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Data constraints: it would be better to expand the dataset to overcome the limitation. </a:t>
            </a:r>
            <a:endParaRPr sz="1400"/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Burmese texts/sentences has no spaces, the model initially treated the whole sentence as a single, unknown words.</a:t>
            </a:r>
            <a:endParaRPr sz="1400"/>
          </a:p>
          <a:p>
            <a:pPr indent="-3175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Tokenization has been utilized to allow the deep learning model to accurately build a vocabulary and recognize critical words without flaw.</a:t>
            </a:r>
            <a:endParaRPr sz="1400"/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Pyidaungsu Font cannot use in the Python version higher than 3.1.11</a:t>
            </a:r>
            <a:endParaRPr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39"/>
          <p:cNvPicPr preferRelativeResize="0"/>
          <p:nvPr/>
        </p:nvPicPr>
        <p:blipFill rotWithShape="1">
          <a:blip r:embed="rId3">
            <a:alphaModFix/>
          </a:blip>
          <a:srcRect b="11360" l="0" r="0" t="11360"/>
          <a:stretch/>
        </p:blipFill>
        <p:spPr>
          <a:xfrm>
            <a:off x="0" y="0"/>
            <a:ext cx="9144000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9" name="Google Shape;369;p39"/>
          <p:cNvGrpSpPr/>
          <p:nvPr/>
        </p:nvGrpSpPr>
        <p:grpSpPr>
          <a:xfrm>
            <a:off x="-4762" y="1950600"/>
            <a:ext cx="4714087" cy="1251900"/>
            <a:chOff x="0" y="0"/>
            <a:chExt cx="12570900" cy="3338400"/>
          </a:xfrm>
        </p:grpSpPr>
        <p:sp>
          <p:nvSpPr>
            <p:cNvPr id="370" name="Google Shape;370;p39"/>
            <p:cNvSpPr/>
            <p:nvPr/>
          </p:nvSpPr>
          <p:spPr>
            <a:xfrm>
              <a:off x="0" y="0"/>
              <a:ext cx="12570900" cy="3338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39"/>
            <p:cNvSpPr txBox="1"/>
            <p:nvPr/>
          </p:nvSpPr>
          <p:spPr>
            <a:xfrm>
              <a:off x="1924925" y="449987"/>
              <a:ext cx="8595600" cy="270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" sz="30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Thank You for your Attention!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2" name="Google Shape;372;p39"/>
          <p:cNvCxnSpPr/>
          <p:nvPr/>
        </p:nvCxnSpPr>
        <p:spPr>
          <a:xfrm rot="5400000">
            <a:off x="-857995" y="189115"/>
            <a:ext cx="30849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3" name="Google Shape;373;p39"/>
          <p:cNvCxnSpPr/>
          <p:nvPr/>
        </p:nvCxnSpPr>
        <p:spPr>
          <a:xfrm rot="5400000">
            <a:off x="-857995" y="4949657"/>
            <a:ext cx="30849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74" name="Google Shape;374;p39"/>
          <p:cNvGrpSpPr/>
          <p:nvPr/>
        </p:nvGrpSpPr>
        <p:grpSpPr>
          <a:xfrm>
            <a:off x="8837359" y="-72329"/>
            <a:ext cx="1542830" cy="5808358"/>
            <a:chOff x="0" y="-38100"/>
            <a:chExt cx="812700" cy="3059607"/>
          </a:xfrm>
        </p:grpSpPr>
        <p:sp>
          <p:nvSpPr>
            <p:cNvPr id="375" name="Google Shape;375;p39"/>
            <p:cNvSpPr/>
            <p:nvPr/>
          </p:nvSpPr>
          <p:spPr>
            <a:xfrm>
              <a:off x="0" y="0"/>
              <a:ext cx="161523" cy="3021507"/>
            </a:xfrm>
            <a:custGeom>
              <a:rect b="b" l="l" r="r" t="t"/>
              <a:pathLst>
                <a:path extrusionOk="0" h="3021507" w="161523">
                  <a:moveTo>
                    <a:pt x="0" y="0"/>
                  </a:moveTo>
                  <a:lnTo>
                    <a:pt x="161523" y="0"/>
                  </a:lnTo>
                  <a:lnTo>
                    <a:pt x="161523" y="3021507"/>
                  </a:lnTo>
                  <a:lnTo>
                    <a:pt x="0" y="3021507"/>
                  </a:lnTo>
                  <a:close/>
                </a:path>
              </a:pathLst>
            </a:custGeom>
            <a:solidFill>
              <a:srgbClr val="000000">
                <a:alpha val="13330"/>
              </a:srgbClr>
            </a:solidFill>
            <a:ln>
              <a:noFill/>
            </a:ln>
          </p:spPr>
        </p:sp>
        <p:sp>
          <p:nvSpPr>
            <p:cNvPr id="376" name="Google Shape;376;p39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7" name="Google Shape;377;p39"/>
          <p:cNvSpPr txBox="1"/>
          <p:nvPr/>
        </p:nvSpPr>
        <p:spPr>
          <a:xfrm rot="5400000">
            <a:off x="8633564" y="2517954"/>
            <a:ext cx="766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